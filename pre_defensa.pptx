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ns" charset="1" panose="020B0606030504020204"/>
      <p:regular r:id="rId15"/>
    </p:embeddedFont>
    <p:embeddedFont>
      <p:font typeface="Open Sauce" charset="1" panose="00000500000000000000"/>
      <p:regular r:id="rId16"/>
    </p:embeddedFont>
    <p:embeddedFont>
      <p:font typeface="Open Sau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18094" y="3619817"/>
            <a:ext cx="916057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Integrantes del equipo: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·(25401775) - Alberto Sebastián López Cruz.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·(25418891) - Cesar David Bermúdez Campos.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·(25401247) - José Ángel Borja Medrano.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·(25403425) - Javier de Jesús Salinas Arteaga.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72383" y="1140676"/>
            <a:ext cx="885199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ropuesta de Contingencia para Mitigación y Control de Riesgos en la Plataforma PlayKids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55349" y="8677910"/>
            <a:ext cx="70039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Sábado 26 de Septiembre del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0" r="-56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5136" y="3800575"/>
            <a:ext cx="6713665" cy="3326694"/>
          </a:xfrm>
          <a:custGeom>
            <a:avLst/>
            <a:gdLst/>
            <a:ahLst/>
            <a:cxnLst/>
            <a:rect r="r" b="b" t="t" l="l"/>
            <a:pathLst>
              <a:path h="3326694" w="6713665">
                <a:moveTo>
                  <a:pt x="0" y="0"/>
                </a:moveTo>
                <a:lnTo>
                  <a:pt x="6713665" y="0"/>
                </a:lnTo>
                <a:lnTo>
                  <a:pt x="6713665" y="3326694"/>
                </a:lnTo>
                <a:lnTo>
                  <a:pt x="0" y="3326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877" t="0" r="-3351" b="-225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44234" y="4052039"/>
            <a:ext cx="7652654" cy="2823766"/>
          </a:xfrm>
          <a:custGeom>
            <a:avLst/>
            <a:gdLst/>
            <a:ahLst/>
            <a:cxnLst/>
            <a:rect r="r" b="b" t="t" l="l"/>
            <a:pathLst>
              <a:path h="2823766" w="7652654">
                <a:moveTo>
                  <a:pt x="0" y="0"/>
                </a:moveTo>
                <a:lnTo>
                  <a:pt x="7652653" y="0"/>
                </a:lnTo>
                <a:lnTo>
                  <a:pt x="7652653" y="2823766"/>
                </a:lnTo>
                <a:lnTo>
                  <a:pt x="0" y="2823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298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8310"/>
            <a:ext cx="66294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Situación Identificada y Riesgos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71171" y="3017240"/>
            <a:ext cx="466159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Contraseñas sin cifrar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44234" y="3017240"/>
            <a:ext cx="669419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Cadena de conexión vulnerable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0" r="-56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8310"/>
            <a:ext cx="655558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Impactos y Cumplimiento Legal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93443"/>
            <a:ext cx="1497914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Impacto Legal: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Obligación estricta de proteger la confidencialidad de los menores según la Ley N.° 787 (Datos Personales) y la Ley N.° 1042 (Ciberdelitos).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85651"/>
            <a:ext cx="1330468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Impacto Operacional: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Riesgo de interrupción del ciclo escolar y pérdida irrecuperable del progreso y calificaciones de los estudiantes.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777858"/>
            <a:ext cx="1463373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Impacto Reputacional: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Descrédito institucional y pérdida de confianza de PlayKidsEdu Company ante los padres de familia y colegios aliados.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0" r="-56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60874" y="1284418"/>
            <a:ext cx="9366252" cy="7718163"/>
          </a:xfrm>
          <a:custGeom>
            <a:avLst/>
            <a:gdLst/>
            <a:ahLst/>
            <a:cxnLst/>
            <a:rect r="r" b="b" t="t" l="l"/>
            <a:pathLst>
              <a:path h="7718163" w="9366252">
                <a:moveTo>
                  <a:pt x="0" y="0"/>
                </a:moveTo>
                <a:lnTo>
                  <a:pt x="9366252" y="0"/>
                </a:lnTo>
                <a:lnTo>
                  <a:pt x="9366252" y="7718164"/>
                </a:lnTo>
                <a:lnTo>
                  <a:pt x="0" y="7718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48310"/>
            <a:ext cx="779601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La Solución: Arquitectura en 4 Capas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0" r="-56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203904"/>
            <a:ext cx="8008607" cy="8238432"/>
          </a:xfrm>
          <a:custGeom>
            <a:avLst/>
            <a:gdLst/>
            <a:ahLst/>
            <a:cxnLst/>
            <a:rect r="r" b="b" t="t" l="l"/>
            <a:pathLst>
              <a:path h="8238432" w="8008607">
                <a:moveTo>
                  <a:pt x="0" y="0"/>
                </a:moveTo>
                <a:lnTo>
                  <a:pt x="8008607" y="0"/>
                </a:lnTo>
                <a:lnTo>
                  <a:pt x="8008607" y="8238433"/>
                </a:lnTo>
                <a:lnTo>
                  <a:pt x="0" y="8238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477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48310"/>
            <a:ext cx="745142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Medidas de Contingencia Operativa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88568" y="2119630"/>
            <a:ext cx="8246286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Filtro de Validaciones: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Rechazo de sintaxis inválida y campos vacíos directamente en la capa de negocio.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Límite de Intentos de Sesión: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Mecanismo de seguridad que suspende la cuenta por 15 minutos tras registrar 5 intentos fallidos consecutivos.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0" r="-56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950" y="5327788"/>
            <a:ext cx="6702440" cy="2863951"/>
          </a:xfrm>
          <a:custGeom>
            <a:avLst/>
            <a:gdLst/>
            <a:ahLst/>
            <a:cxnLst/>
            <a:rect r="r" b="b" t="t" l="l"/>
            <a:pathLst>
              <a:path h="2863951" w="6702440">
                <a:moveTo>
                  <a:pt x="0" y="0"/>
                </a:moveTo>
                <a:lnTo>
                  <a:pt x="6702440" y="0"/>
                </a:lnTo>
                <a:lnTo>
                  <a:pt x="6702440" y="2863951"/>
                </a:lnTo>
                <a:lnTo>
                  <a:pt x="0" y="2863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24870" y="4987123"/>
            <a:ext cx="8673042" cy="2929294"/>
          </a:xfrm>
          <a:custGeom>
            <a:avLst/>
            <a:gdLst/>
            <a:ahLst/>
            <a:cxnLst/>
            <a:rect r="r" b="b" t="t" l="l"/>
            <a:pathLst>
              <a:path h="2929294" w="8673042">
                <a:moveTo>
                  <a:pt x="0" y="0"/>
                </a:moveTo>
                <a:lnTo>
                  <a:pt x="8673041" y="0"/>
                </a:lnTo>
                <a:lnTo>
                  <a:pt x="8673041" y="2929294"/>
                </a:lnTo>
                <a:lnTo>
                  <a:pt x="0" y="2929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539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8310"/>
            <a:ext cx="608409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Seguridad en Base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7950" y="1654562"/>
            <a:ext cx="764558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Prevención de Inyección SQL: Sustitución de consultas dinámicas por el uso exclusivo de Procedimientos Almacenados parametrizados.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39211" y="1233937"/>
            <a:ext cx="7995994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Trazabilidad Automática: Implementación de Triggers para generar pistas de auditoría inalterables de forma automática en cada registro.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0" r="-56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9167" y="4131593"/>
            <a:ext cx="6854171" cy="2824749"/>
          </a:xfrm>
          <a:custGeom>
            <a:avLst/>
            <a:gdLst/>
            <a:ahLst/>
            <a:cxnLst/>
            <a:rect r="r" b="b" t="t" l="l"/>
            <a:pathLst>
              <a:path h="2824749" w="6854171">
                <a:moveTo>
                  <a:pt x="0" y="0"/>
                </a:moveTo>
                <a:lnTo>
                  <a:pt x="6854171" y="0"/>
                </a:lnTo>
                <a:lnTo>
                  <a:pt x="6854171" y="2824749"/>
                </a:lnTo>
                <a:lnTo>
                  <a:pt x="0" y="2824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434712"/>
            <a:ext cx="2600534" cy="2600534"/>
          </a:xfrm>
          <a:custGeom>
            <a:avLst/>
            <a:gdLst/>
            <a:ahLst/>
            <a:cxnLst/>
            <a:rect r="r" b="b" t="t" l="l"/>
            <a:pathLst>
              <a:path h="2600534" w="2600534">
                <a:moveTo>
                  <a:pt x="0" y="0"/>
                </a:moveTo>
                <a:lnTo>
                  <a:pt x="2600534" y="0"/>
                </a:lnTo>
                <a:lnTo>
                  <a:pt x="2600534" y="2600533"/>
                </a:lnTo>
                <a:lnTo>
                  <a:pt x="0" y="260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66976" y="4009211"/>
            <a:ext cx="2394847" cy="2617319"/>
          </a:xfrm>
          <a:custGeom>
            <a:avLst/>
            <a:gdLst/>
            <a:ahLst/>
            <a:cxnLst/>
            <a:rect r="r" b="b" t="t" l="l"/>
            <a:pathLst>
              <a:path h="2617319" w="2394847">
                <a:moveTo>
                  <a:pt x="0" y="0"/>
                </a:moveTo>
                <a:lnTo>
                  <a:pt x="2394847" y="0"/>
                </a:lnTo>
                <a:lnTo>
                  <a:pt x="2394847" y="2617319"/>
                </a:lnTo>
                <a:lnTo>
                  <a:pt x="0" y="2617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70056" y="3950070"/>
            <a:ext cx="2113345" cy="3085176"/>
          </a:xfrm>
          <a:custGeom>
            <a:avLst/>
            <a:gdLst/>
            <a:ahLst/>
            <a:cxnLst/>
            <a:rect r="r" b="b" t="t" l="l"/>
            <a:pathLst>
              <a:path h="3085176" w="2113345">
                <a:moveTo>
                  <a:pt x="0" y="0"/>
                </a:moveTo>
                <a:lnTo>
                  <a:pt x="2113346" y="0"/>
                </a:lnTo>
                <a:lnTo>
                  <a:pt x="2113346" y="3085175"/>
                </a:lnTo>
                <a:lnTo>
                  <a:pt x="0" y="30851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48310"/>
            <a:ext cx="79587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Plan de Recuperación ante Desastres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1465" y="2742544"/>
            <a:ext cx="628957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Automatización de Respaldos: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74823" y="2742544"/>
            <a:ext cx="628957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Estrategia 3-2-1: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0" r="-56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8310"/>
            <a:ext cx="344318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Próximos Pasos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492649"/>
            <a:ext cx="15584847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Criptografía de Credenciales: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Implementación del algoritmo de hashing BCrypt en la capa de negocio para las contraseñas.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Protección de Configuraciones: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Cifrado de la sección connectionStrings en el archivo App.config del ejecutable.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Seguridad del Código Fuente: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Aplicación de herramientas de ofuscación sobre las librerías compiladas (.dll) para prevenir la ingeniería inversa.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DAHWPaQgzGM</dc:identifier>
  <dcterms:modified xsi:type="dcterms:W3CDTF">2011-08-01T06:04:30Z</dcterms:modified>
  <cp:revision>1</cp:revision>
  <dc:title>pre_defensa</dc:title>
</cp:coreProperties>
</file>