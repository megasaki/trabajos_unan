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Montaser Arabic" panose="020B0604020202020204" charset="-78"/>
      <p:regular r:id="rId21"/>
    </p:embeddedFont>
    <p:embeddedFont>
      <p:font typeface="Open Sans" panose="020B0606030504020204" pitchFamily="34" charset="0"/>
      <p:regular r:id="rId22"/>
    </p:embeddedFont>
    <p:embeddedFont>
      <p:font typeface="Open Sans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382000" y="3838889"/>
            <a:ext cx="9001324" cy="3469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Integrantes</a:t>
            </a:r>
            <a:r>
              <a:rPr lang="en-US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del </a:t>
            </a:r>
            <a:r>
              <a:rPr lang="en-US" sz="3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equipo</a:t>
            </a:r>
            <a:r>
              <a:rPr lang="en-US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algn="l">
              <a:lnSpc>
                <a:spcPts val="4620"/>
              </a:lnSpc>
            </a:pPr>
            <a:r>
              <a:rPr lang="en-US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·(25401775) - Alberto Sebastián López Cruz.</a:t>
            </a:r>
          </a:p>
          <a:p>
            <a:pPr algn="l">
              <a:lnSpc>
                <a:spcPts val="4620"/>
              </a:lnSpc>
            </a:pPr>
            <a:r>
              <a:rPr lang="en-US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· (25418891) - Cesar David Bermúdez Campos.</a:t>
            </a:r>
          </a:p>
          <a:p>
            <a:pPr algn="l">
              <a:lnSpc>
                <a:spcPts val="4620"/>
              </a:lnSpc>
            </a:pPr>
            <a:r>
              <a:rPr lang="en-US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·(25401247) - José Ángel Borja Medrano.</a:t>
            </a:r>
          </a:p>
          <a:p>
            <a:pPr algn="l">
              <a:lnSpc>
                <a:spcPts val="4620"/>
              </a:lnSpc>
            </a:pPr>
            <a:r>
              <a:rPr lang="en-US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·(25403425) - Javier de Jesús Salinas Arteaga.</a:t>
            </a:r>
          </a:p>
          <a:p>
            <a:pPr algn="l">
              <a:lnSpc>
                <a:spcPts val="4620"/>
              </a:lnSpc>
            </a:pPr>
            <a:r>
              <a:rPr lang="en-US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· (25415613) - Kelly Raquel Martínez Rocha.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687222" y="1177611"/>
            <a:ext cx="6142831" cy="1801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Nombre del </a:t>
            </a:r>
            <a:r>
              <a:rPr lang="en-US" sz="51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Producto:PlayKids</a:t>
            </a:r>
            <a:endParaRPr lang="en-US" sz="5199" dirty="0">
              <a:solidFill>
                <a:srgbClr val="000000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668000" y="8881741"/>
            <a:ext cx="900132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Sabado 2 de mayo del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143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767015" y="3750944"/>
            <a:ext cx="10939585" cy="569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problemática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identificada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se centra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limitada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disponibilidad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herramientas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tecnológicas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educativas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para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aprendizaje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idiomas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especialmente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comunidades con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menos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recursos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Esta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situación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se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agravada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por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uso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métodos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tradicionales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no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logran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motivar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estudiantes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ni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facilitar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un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aprendizaje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efectivo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particularmente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niños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Además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existe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falta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enfoques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interactivos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adaptados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las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nuevas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generaciones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lo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contribuye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desmotivación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bajo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rendimiento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proceso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educativo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En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consecuencia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se genera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brecha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tanto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educativa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digital,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evidenciando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necesidad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soluciones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innovadoras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accesibles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dinámicas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mejoren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calidad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aprendizaje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8600" y="301897"/>
            <a:ext cx="5588298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1.Análisis del </a:t>
            </a:r>
            <a:r>
              <a:rPr lang="en-US" sz="3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Problema</a:t>
            </a:r>
            <a:endParaRPr lang="en-US" sz="3799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535067" y="1999433"/>
            <a:ext cx="7217866" cy="1184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Identificación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de la </a:t>
            </a: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problemática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: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86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25267" y="3138351"/>
            <a:ext cx="10939585" cy="617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solución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propuesta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consiste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desarrollo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aplicación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educativa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gamificada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para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aprendizaje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idiomas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niños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integra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actividades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interactivas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visuales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auditivas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con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fin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hacer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proceso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enseñanza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más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dinámico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accesible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atractivo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endParaRPr lang="en-US" sz="2700" dirty="0">
              <a:solidFill>
                <a:srgbClr val="000000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solución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se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justifica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por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necesidad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mejorar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motivación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rendimiento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aprendizaje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superando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las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limitaciones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métodos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tradicionales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Además,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permite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reducir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brecha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educativa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digital,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ofreciendo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herramienta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innovadora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alineada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con las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necesidades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actuales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entorno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educativo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endParaRPr lang="en-US" sz="2700" dirty="0">
              <a:solidFill>
                <a:srgbClr val="000000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2390119" y="2711953"/>
            <a:ext cx="4869181" cy="4863095"/>
          </a:xfrm>
          <a:custGeom>
            <a:avLst/>
            <a:gdLst/>
            <a:ahLst/>
            <a:cxnLst/>
            <a:rect l="l" t="t" r="r" b="b"/>
            <a:pathLst>
              <a:path w="4869181" h="4863095">
                <a:moveTo>
                  <a:pt x="0" y="0"/>
                </a:moveTo>
                <a:lnTo>
                  <a:pt x="4869181" y="0"/>
                </a:lnTo>
                <a:lnTo>
                  <a:pt x="4869181" y="4863094"/>
                </a:lnTo>
                <a:lnTo>
                  <a:pt x="0" y="48630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382270"/>
            <a:ext cx="5588298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1.Análisis del </a:t>
            </a:r>
            <a:r>
              <a:rPr lang="en-US" sz="3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Problema</a:t>
            </a:r>
            <a:endParaRPr lang="en-US" sz="3799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886" y="1869802"/>
            <a:ext cx="8171557" cy="1184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Justificación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de la </a:t>
            </a: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solución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propuesta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:</a:t>
            </a:r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86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54886" y="2400300"/>
            <a:ext cx="7968395" cy="5791200"/>
          </a:xfrm>
          <a:custGeom>
            <a:avLst/>
            <a:gdLst/>
            <a:ahLst/>
            <a:cxnLst/>
            <a:rect l="l" t="t" r="r" b="b"/>
            <a:pathLst>
              <a:path w="7968395" h="4847085">
                <a:moveTo>
                  <a:pt x="0" y="0"/>
                </a:moveTo>
                <a:lnTo>
                  <a:pt x="7968395" y="0"/>
                </a:lnTo>
                <a:lnTo>
                  <a:pt x="7968395" y="4847085"/>
                </a:lnTo>
                <a:lnTo>
                  <a:pt x="0" y="48470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72307" y="2754721"/>
            <a:ext cx="6859105" cy="712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análisis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descriptivo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datos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permitió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identificar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patrones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tendencias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relevantes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relación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con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aprendizaje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idiomas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niños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través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tablas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medidas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estadísticas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gráficos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se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evidenció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nivel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desempeño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las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dificultades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más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frecuentes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grado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interés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usuarios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resultados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facilitaron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mejor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comprensión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problemática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sirviendo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base para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diseño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solución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educativa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más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efectiva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adaptada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las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necesidades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detectadas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endParaRPr lang="en-US" sz="2700" dirty="0">
              <a:solidFill>
                <a:srgbClr val="000000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72307" y="382270"/>
            <a:ext cx="8684343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2.Recolección y Análisis de Datos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2307" y="1449209"/>
            <a:ext cx="6188968" cy="1184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Análisis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descriptivo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datos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aphicFrame>
        <p:nvGraphicFramePr>
          <p:cNvPr id="3" name="Object 3"/>
          <p:cNvGraphicFramePr/>
          <p:nvPr/>
        </p:nvGraphicFramePr>
        <p:xfrm>
          <a:off x="10481363" y="1862455"/>
          <a:ext cx="7543800" cy="314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42400" imgH="4648200" progId="Excel.Sheet.12">
                  <p:embed/>
                </p:oleObj>
              </mc:Choice>
              <mc:Fallback>
                <p:oleObj name="Worksheet" r:id="rId3" imgW="9042400" imgH="4648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81363" y="1862455"/>
                        <a:ext cx="7543800" cy="314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/>
          <p:nvPr/>
        </p:nvGraphicFramePr>
        <p:xfrm>
          <a:off x="10481363" y="5143500"/>
          <a:ext cx="7543800" cy="377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9042400" imgH="5270500" progId="Excel.Sheet.12">
                  <p:embed/>
                </p:oleObj>
              </mc:Choice>
              <mc:Fallback>
                <p:oleObj name="Worksheet" r:id="rId5" imgW="9042400" imgH="5270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481363" y="5143500"/>
                        <a:ext cx="7543800" cy="377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499945" y="2810827"/>
            <a:ext cx="9718581" cy="569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Las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tablas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frecuencia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muestran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tendencia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predominante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las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respuestas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usuarios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hacia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preferencia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por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métodos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aprendizaje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interactivos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digitales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mayoría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coincide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uso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herramientas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tecnológicas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facilita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comprensión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aumenta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motivación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Asimismo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se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observa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participación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constante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las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opciones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más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positivas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lo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indica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aceptación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general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hacia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implementación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un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sistema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educativo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dinámico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En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menor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proporción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se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identifican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respuestas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reflejan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limitaciones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acceso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o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uso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tecnología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pero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no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afectan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tendencia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principal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resultados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2307" y="382270"/>
            <a:ext cx="8684343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2.Recolección y Análisis de Datos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24000" y="1889669"/>
            <a:ext cx="609570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Interpretación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resultados</a:t>
            </a:r>
            <a:endParaRPr lang="en-US" sz="3399" dirty="0">
              <a:solidFill>
                <a:srgbClr val="000000"/>
              </a:solidFill>
              <a:highlight>
                <a:srgbClr val="C0C0C0"/>
              </a:highlight>
              <a:latin typeface="Montaser Arabic"/>
              <a:ea typeface="Montaser Arabic"/>
              <a:cs typeface="Montaser Arabic"/>
              <a:sym typeface="Montaser Arabic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443"/>
            <a:ext cx="18144133" cy="10281557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83193" y="3073128"/>
            <a:ext cx="9718581" cy="569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 conjunto,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análisis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las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tablas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frecuencia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refleja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clara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tendencia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hacia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aceptación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herramientas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tecnológicas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aprendizaje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destacando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mayor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concentración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respuestas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las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opciones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favorables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Los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datos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evidencian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usuarios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prefieren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métodos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interactivos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dinámicos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accesibles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lo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respalda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necesidad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implementar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soluciones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digitales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educativas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Aunque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existen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algunas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respuestas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menos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frecuentes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relacionadas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con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dificultades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acceso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o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adaptación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no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alteran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tendencia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principal,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apunta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percepción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positiva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alta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disposición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hacia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uso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tipo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sistemas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2307" y="382270"/>
            <a:ext cx="8684343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2.Recolección y Análisis de Datos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52600" y="1943100"/>
            <a:ext cx="609570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Interpretación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resultados</a:t>
            </a:r>
            <a:endParaRPr lang="en-US" sz="3399" dirty="0">
              <a:solidFill>
                <a:srgbClr val="000000"/>
              </a:solidFill>
              <a:highlight>
                <a:srgbClr val="C0C0C0"/>
              </a:highlight>
              <a:latin typeface="Montaser Arabic"/>
              <a:ea typeface="Montaser Arabic"/>
              <a:cs typeface="Montaser Arabic"/>
              <a:sym typeface="Montaser Arabic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58199F3-5148-8C39-F18E-A6542650E4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3121" y="2350044"/>
            <a:ext cx="6400800" cy="6400800"/>
          </a:xfrm>
          <a:prstGeom prst="rect">
            <a:avLst/>
          </a:prstGeom>
        </p:spPr>
      </p:pic>
    </p:spTree>
  </p:cSld>
  <p:clrMapOvr>
    <a:masterClrMapping/>
  </p:clrMapOvr>
  <p:transition spd="slow">
    <p:wheel spokes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38200" y="2829560"/>
            <a:ext cx="9718581" cy="617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proceso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actual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aprendizaje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se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basa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principalmente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métodos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tradicionales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cuales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presentan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limitaciones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cuanto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interactividad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seguimiento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progreso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motivación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estudiante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No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existe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un control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eficiente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sobre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avance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individual, lo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dificulta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evaluación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desempeño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toma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decisiones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pedagógicas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Además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falta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herramientas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tecnológicas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reduce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participación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activa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usuario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generando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un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aprendizaje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menos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dinámico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poco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adaptado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las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necesidades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individuales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En general,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proceso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actual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resulta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poco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eficiente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no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responde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adecuadamente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las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demandas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un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entorno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educativo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moderno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82270"/>
            <a:ext cx="2706660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3.Procesos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376634"/>
            <a:ext cx="5784850" cy="1184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Análisis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proceso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actual.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9EDE40C-F47F-D10F-DBA3-FBE49BB9DD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590" y="2228215"/>
            <a:ext cx="6705600" cy="6705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06929" y="3238500"/>
            <a:ext cx="10122138" cy="474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proceso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automatizar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corresponde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gestión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aprendizaje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usuario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dentro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sistema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educativo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específicamente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ejecución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actividades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registro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progreso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generación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reportes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Actualmente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tareas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se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realizan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forma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limitada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o manual, lo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dificulta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seguimiento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continuo del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desempeño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Por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ello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se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busca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automatizar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funciones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para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mejorar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eficiencia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garantizar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un control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preciso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avance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usuario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ofrecer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experiencia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aprendizaje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más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dinámica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interactiva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82270"/>
            <a:ext cx="2706660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3.Procesos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726564"/>
            <a:ext cx="8267700" cy="11849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Identificación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proceso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automatizar</a:t>
            </a:r>
            <a:endParaRPr lang="en-US" sz="3399" dirty="0">
              <a:solidFill>
                <a:srgbClr val="000000"/>
              </a:solidFill>
              <a:highlight>
                <a:srgbClr val="C0C0C0"/>
              </a:highlight>
              <a:latin typeface="Montaser Arabic"/>
              <a:ea typeface="Montaser Arabic"/>
              <a:cs typeface="Montaser Arabic"/>
              <a:sym typeface="Montaser Arabic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DC743D9-1D65-883C-FCF7-5BC70D6CC2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8297" y="2400300"/>
            <a:ext cx="5884545" cy="58845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NI" dirty="0"/>
          </a:p>
        </p:txBody>
      </p:sp>
      <p:graphicFrame>
        <p:nvGraphicFramePr>
          <p:cNvPr id="3" name="Object 3"/>
          <p:cNvGraphicFramePr/>
          <p:nvPr>
            <p:extLst>
              <p:ext uri="{D42A27DB-BD31-4B8C-83A1-F6EECF244321}">
                <p14:modId xmlns:p14="http://schemas.microsoft.com/office/powerpoint/2010/main" val="1952964311"/>
              </p:ext>
            </p:extLst>
          </p:nvPr>
        </p:nvGraphicFramePr>
        <p:xfrm>
          <a:off x="8732810" y="3147692"/>
          <a:ext cx="9429750" cy="5220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1315700" imgH="7099300" progId="Excel.Sheet.12">
                  <p:embed/>
                </p:oleObj>
              </mc:Choice>
              <mc:Fallback>
                <p:oleObj name="Worksheet" r:id="rId3" imgW="11315700" imgH="70993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32810" y="3147692"/>
                        <a:ext cx="9429750" cy="52206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838200" y="3424165"/>
            <a:ext cx="7524242" cy="569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Los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requerimientos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funcionales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definen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las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principales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funciones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sistema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registro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inicio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sesión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usuarios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visualización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lecciones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por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niveles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realización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actividades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interactivas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Además,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sistema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debe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permitir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registrar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mostrar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progreso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usuario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evaluar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su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desempeño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decidir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su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avance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nivel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ofrecer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un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historial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actividades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En conjunto,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funciones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garantizan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experiencia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aprendizaje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dinámica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organizada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centrada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usuario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82270"/>
            <a:ext cx="4508224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4.Requerimientos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8200" y="1326186"/>
            <a:ext cx="10934700" cy="1800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Identificación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clasificación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requerimientos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: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endParaRPr lang="en-US" sz="3399" dirty="0">
              <a:solidFill>
                <a:srgbClr val="000000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Funcionales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59381" y="1905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aphicFrame>
        <p:nvGraphicFramePr>
          <p:cNvPr id="3" name="Object 3"/>
          <p:cNvGraphicFramePr/>
          <p:nvPr>
            <p:extLst>
              <p:ext uri="{D42A27DB-BD31-4B8C-83A1-F6EECF244321}">
                <p14:modId xmlns:p14="http://schemas.microsoft.com/office/powerpoint/2010/main" val="1984471613"/>
              </p:ext>
            </p:extLst>
          </p:nvPr>
        </p:nvGraphicFramePr>
        <p:xfrm>
          <a:off x="8274124" y="2770868"/>
          <a:ext cx="9354495" cy="4745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1315700" imgH="5651500" progId="Excel.Sheet.12">
                  <p:embed/>
                </p:oleObj>
              </mc:Choice>
              <mc:Fallback>
                <p:oleObj name="Worksheet" r:id="rId3" imgW="11315700" imgH="5651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74124" y="2770868"/>
                        <a:ext cx="9354495" cy="47452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659381" y="2767778"/>
            <a:ext cx="7195205" cy="617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Los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requerimientos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no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funcionales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establecen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las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condiciones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calidad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sistema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usabilidad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rendimiento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seguridad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sistema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debe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ser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fácil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usar, con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interfaz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intuitiva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orientada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niños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permitiendo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un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aprendizaje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rápido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sin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necesidad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asistencia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Además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debe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garantizar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tiempos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respuesta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rápidos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las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operaciones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principales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proteger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información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usuario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asegurando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un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funcionamiento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eficiente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confiable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seguro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82270"/>
            <a:ext cx="4508224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4.Requerimientos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67285"/>
            <a:ext cx="10440707" cy="1800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Identificación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clasificación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requerimientos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: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endParaRPr lang="en-US" sz="3399" dirty="0">
              <a:solidFill>
                <a:srgbClr val="000000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No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Funcionales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90136" y="2514960"/>
            <a:ext cx="7747393" cy="6431623"/>
          </a:xfrm>
          <a:custGeom>
            <a:avLst/>
            <a:gdLst/>
            <a:ahLst/>
            <a:cxnLst/>
            <a:rect l="l" t="t" r="r" b="b"/>
            <a:pathLst>
              <a:path w="8776269" h="6999075">
                <a:moveTo>
                  <a:pt x="0" y="0"/>
                </a:moveTo>
                <a:lnTo>
                  <a:pt x="8776269" y="0"/>
                </a:lnTo>
                <a:lnTo>
                  <a:pt x="8776269" y="6999075"/>
                </a:lnTo>
                <a:lnTo>
                  <a:pt x="0" y="699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453237"/>
            <a:ext cx="7524242" cy="617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Para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desarrollo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sistema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se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selecciona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un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modelo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proceso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iterativo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e incremental,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ya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permite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construir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aplicación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fases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progresivas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incorporando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mejoras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continuas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cada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iteración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Este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enfoque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facilita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adaptación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cambios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requerimientos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constante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con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usuarios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detección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temprana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errores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Además,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permite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entregar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versiones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funcionales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sistema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menor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tiempo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asegurando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evolución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gradual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controlada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proyecto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82270"/>
            <a:ext cx="4441721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4.Requerimientos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2000" y="1414156"/>
            <a:ext cx="1017469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Selección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modelo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proceso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desarrollo</a:t>
            </a:r>
            <a:endParaRPr lang="en-US" sz="3399" dirty="0">
              <a:solidFill>
                <a:srgbClr val="000000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915400" y="2034540"/>
            <a:ext cx="8715883" cy="6410528"/>
          </a:xfrm>
          <a:custGeom>
            <a:avLst/>
            <a:gdLst/>
            <a:ahLst/>
            <a:cxnLst/>
            <a:rect l="l" t="t" r="r" b="b"/>
            <a:pathLst>
              <a:path w="9585449" h="6613960">
                <a:moveTo>
                  <a:pt x="0" y="0"/>
                </a:moveTo>
                <a:lnTo>
                  <a:pt x="9585449" y="0"/>
                </a:lnTo>
                <a:lnTo>
                  <a:pt x="9585449" y="6613960"/>
                </a:lnTo>
                <a:lnTo>
                  <a:pt x="0" y="66139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73808" y="2514960"/>
            <a:ext cx="7524242" cy="617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modelo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Entidad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–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Relación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representa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estructura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la base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datos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sistema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identificando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las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principales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entidades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usuarios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lecciones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actividades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progreso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junto con sus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atributos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Además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define las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relaciones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entre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entidades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interacción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usuario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con las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actividades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registro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su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avance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Este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modelo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permite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organizar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información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forma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lógica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facilitando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su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posterior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implementación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modelo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relacional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asegurando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integridad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coherencia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datos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dentro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sistema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82270"/>
            <a:ext cx="4789645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5.Modelo </a:t>
            </a:r>
            <a:r>
              <a:rPr lang="en-US" sz="3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relacional</a:t>
            </a:r>
            <a:endParaRPr lang="en-US" sz="3799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73808" y="1476192"/>
            <a:ext cx="667222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Modelo </a:t>
            </a: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Entidad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–</a:t>
            </a: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Relación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(ER):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86270" y="2116282"/>
            <a:ext cx="9758037" cy="5257142"/>
          </a:xfrm>
          <a:custGeom>
            <a:avLst/>
            <a:gdLst/>
            <a:ahLst/>
            <a:cxnLst/>
            <a:rect l="l" t="t" r="r" b="b"/>
            <a:pathLst>
              <a:path w="9758037" h="5257142">
                <a:moveTo>
                  <a:pt x="0" y="0"/>
                </a:moveTo>
                <a:lnTo>
                  <a:pt x="9758037" y="0"/>
                </a:lnTo>
                <a:lnTo>
                  <a:pt x="9758037" y="5257142"/>
                </a:lnTo>
                <a:lnTo>
                  <a:pt x="0" y="5257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51702" y="2826747"/>
            <a:ext cx="7524242" cy="617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modelo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relacional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traduce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modelo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Entidad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–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Relación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tablas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estructuradas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dentro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la base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datos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donde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cada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entidad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se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convierte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tabla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con sus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respectivos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atributos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claves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primarias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Además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se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establecen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relaciones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mediante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claves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foráneas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que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permiten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vincular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información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entre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tablas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usuarios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actividades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progreso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Este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modelo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garantiza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organización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integridad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consistencia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datos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facilitando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su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almacenamiento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consulta y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gestión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dentro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27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sistema</a:t>
            </a:r>
            <a:r>
              <a:rPr lang="en-US" sz="27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82270"/>
            <a:ext cx="4789645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5.Modelo </a:t>
            </a:r>
            <a:r>
              <a:rPr lang="en-US" sz="3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relacional</a:t>
            </a:r>
            <a:endParaRPr lang="en-US" sz="3799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1826087"/>
            <a:ext cx="401513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Modelo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relacional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19175" y="2957418"/>
            <a:ext cx="6715554" cy="4803035"/>
          </a:xfrm>
          <a:custGeom>
            <a:avLst/>
            <a:gdLst/>
            <a:ahLst/>
            <a:cxnLst/>
            <a:rect l="l" t="t" r="r" b="b"/>
            <a:pathLst>
              <a:path w="6715554" h="4803035">
                <a:moveTo>
                  <a:pt x="0" y="0"/>
                </a:moveTo>
                <a:lnTo>
                  <a:pt x="6715554" y="0"/>
                </a:lnTo>
                <a:lnTo>
                  <a:pt x="6715554" y="4803035"/>
                </a:lnTo>
                <a:lnTo>
                  <a:pt x="0" y="48030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6828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188598" y="2957418"/>
            <a:ext cx="7887750" cy="4803035"/>
          </a:xfrm>
          <a:custGeom>
            <a:avLst/>
            <a:gdLst/>
            <a:ahLst/>
            <a:cxnLst/>
            <a:rect l="l" t="t" r="r" b="b"/>
            <a:pathLst>
              <a:path w="7887750" h="4803035">
                <a:moveTo>
                  <a:pt x="0" y="0"/>
                </a:moveTo>
                <a:lnTo>
                  <a:pt x="7887750" y="0"/>
                </a:lnTo>
                <a:lnTo>
                  <a:pt x="7887750" y="4803035"/>
                </a:lnTo>
                <a:lnTo>
                  <a:pt x="0" y="48030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0665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19175" y="382270"/>
            <a:ext cx="11792505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6.Identificación de clases principales del sistema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9175" y="1426831"/>
            <a:ext cx="812482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Diseño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diagrama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clases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(UML):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290237"/>
            <a:ext cx="5528568" cy="5706527"/>
          </a:xfrm>
          <a:custGeom>
            <a:avLst/>
            <a:gdLst/>
            <a:ahLst/>
            <a:cxnLst/>
            <a:rect l="l" t="t" r="r" b="b"/>
            <a:pathLst>
              <a:path w="5528568" h="5706527">
                <a:moveTo>
                  <a:pt x="0" y="0"/>
                </a:moveTo>
                <a:lnTo>
                  <a:pt x="5528568" y="0"/>
                </a:lnTo>
                <a:lnTo>
                  <a:pt x="5528568" y="5706526"/>
                </a:lnTo>
                <a:lnTo>
                  <a:pt x="0" y="57065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788803" y="2808551"/>
            <a:ext cx="8056566" cy="4669898"/>
          </a:xfrm>
          <a:custGeom>
            <a:avLst/>
            <a:gdLst/>
            <a:ahLst/>
            <a:cxnLst/>
            <a:rect l="l" t="t" r="r" b="b"/>
            <a:pathLst>
              <a:path w="8056566" h="4669898">
                <a:moveTo>
                  <a:pt x="0" y="0"/>
                </a:moveTo>
                <a:lnTo>
                  <a:pt x="8056566" y="0"/>
                </a:lnTo>
                <a:lnTo>
                  <a:pt x="8056566" y="4669898"/>
                </a:lnTo>
                <a:lnTo>
                  <a:pt x="0" y="46698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19175" y="382270"/>
            <a:ext cx="11792505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6.Identificación de clases principales del sistema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9175" y="1126446"/>
            <a:ext cx="812482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Diseño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diagrama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clases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(UML):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19175" y="382270"/>
            <a:ext cx="11792505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6.Identificación de clases principales del sistema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05200" y="1410970"/>
            <a:ext cx="950977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Arquitectura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sistema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(</a:t>
            </a: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modelo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capas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):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endParaRPr lang="en-US" sz="3399" dirty="0">
              <a:solidFill>
                <a:srgbClr val="000000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868271" y="2294890"/>
            <a:ext cx="12783627" cy="6581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sistema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se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estructura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mediante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un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modelo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capas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que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organiza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sus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componentes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niveles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funcionales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La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capa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presentación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se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encarga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la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interacción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con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usuario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mostrando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interfaz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recibiendo sus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acciones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La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capa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lógica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negocio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procesa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las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reglas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sistema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gestionando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funcionalidades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actividades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evaluación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progreso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Finalmente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la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capa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datos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administra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almacenamiento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acceso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la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información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asegurando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persistencia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los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datos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Esta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arquitectura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permite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mejor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organización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mantenimiento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escalabilidad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sistema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facilitando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su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evolución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optimización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19175" y="382270"/>
            <a:ext cx="9509770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7.Conclusiones y lecciones aprendidas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70314" y="1394641"/>
            <a:ext cx="326213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Conclusiones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81200" y="2067242"/>
            <a:ext cx="13768476" cy="718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desarrollo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sistema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permitió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evidenciar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importancia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integrar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herramientas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tecnológicas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proceso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educativo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especialmente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aprendizaje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idiomas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La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propuesta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basada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gamificación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actividades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interactivas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demuestra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ser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alternativa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efectiva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para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mejorar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motivación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participación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comprensión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los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estudiantes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Además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la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implementación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funcionalidades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seguimiento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progreso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la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generación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reportes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contribuye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mejor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toma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decisiones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tanto para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docentes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para padres. En general,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sistema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responde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adecuadamente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la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problemática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identificada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ofreciendo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solución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accesible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dinámica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alineada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con las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necesidades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actuales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entorno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educativo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19175" y="382270"/>
            <a:ext cx="9509770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7.Conclusiones y lecciones aprendidas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15143" y="1421402"/>
            <a:ext cx="475488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Lecciones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aprendidas</a:t>
            </a:r>
            <a:r>
              <a:rPr lang="en-US" sz="3399" dirty="0">
                <a:solidFill>
                  <a:srgbClr val="000000"/>
                </a:solidFill>
                <a:highlight>
                  <a:srgbClr val="C0C0C0"/>
                </a:highlight>
                <a:latin typeface="Montaser Arabic"/>
                <a:ea typeface="Montaser Arabic"/>
                <a:cs typeface="Montaser Arabic"/>
                <a:sym typeface="Montaser Arabic"/>
              </a:rPr>
              <a:t>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7800" y="2340066"/>
            <a:ext cx="13306828" cy="6581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Durante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desarrollo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proyecto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se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adquirieron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conocimientos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clave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análisis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requerimientos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diseño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bases de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datos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estructuración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sistemas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mediante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arquitectura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capas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También se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comprendió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importancia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correcta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planificación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del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uso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metodologías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iterativas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para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adaptarse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cambios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mejorar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continuamente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sistema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Asimismo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se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reforzó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trabajo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equipo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la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organización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tareas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así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valor de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diseñar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soluciones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centradas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usuario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Finalmente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se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destacó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relevancia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la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tecnología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herramienta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para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generar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impacto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positivo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3399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educación</a:t>
            </a:r>
            <a:r>
              <a:rPr lang="en-US" sz="3399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1635</Words>
  <Application>Microsoft Office PowerPoint</Application>
  <PresentationFormat>Personalizado</PresentationFormat>
  <Paragraphs>63</Paragraphs>
  <Slides>19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6" baseType="lpstr">
      <vt:lpstr>Open Sans</vt:lpstr>
      <vt:lpstr>Open Sans Bold</vt:lpstr>
      <vt:lpstr>Calibri</vt:lpstr>
      <vt:lpstr>Montaser Arabic</vt:lpstr>
      <vt:lpstr>Arial</vt:lpstr>
      <vt:lpstr>Office Theme</vt:lpstr>
      <vt:lpstr>Worksheet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Integrantes del equipo: •Carnet – Nombre •Carnet - Nombre •Carnet - Nombre •Carnet - Nombre •Carnet - Nombre</dc:title>
  <dc:creator>JOSE ANGEL BORJA #23</dc:creator>
  <cp:lastModifiedBy>J. Angel Medrano.</cp:lastModifiedBy>
  <cp:revision>2</cp:revision>
  <dcterms:created xsi:type="dcterms:W3CDTF">2006-08-16T00:00:00Z</dcterms:created>
  <dcterms:modified xsi:type="dcterms:W3CDTF">2026-05-02T14:54:49Z</dcterms:modified>
  <dc:identifier>DAHIcWCoZ18</dc:identifier>
</cp:coreProperties>
</file>