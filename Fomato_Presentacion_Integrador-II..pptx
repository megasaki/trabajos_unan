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25"/>
  </p:notesMasterIdLst>
  <p:sldIdLst>
    <p:sldId id="256" r:id="rId2"/>
    <p:sldId id="263" r:id="rId3"/>
    <p:sldId id="286" r:id="rId4"/>
    <p:sldId id="285" r:id="rId5"/>
    <p:sldId id="287" r:id="rId6"/>
    <p:sldId id="288" r:id="rId7"/>
    <p:sldId id="289" r:id="rId8"/>
    <p:sldId id="290" r:id="rId9"/>
    <p:sldId id="292" r:id="rId10"/>
    <p:sldId id="291" r:id="rId11"/>
    <p:sldId id="293" r:id="rId12"/>
    <p:sldId id="276" r:id="rId13"/>
    <p:sldId id="294" r:id="rId14"/>
    <p:sldId id="295" r:id="rId15"/>
    <p:sldId id="296" r:id="rId16"/>
    <p:sldId id="297" r:id="rId17"/>
    <p:sldId id="298" r:id="rId18"/>
    <p:sldId id="300" r:id="rId19"/>
    <p:sldId id="299" r:id="rId20"/>
    <p:sldId id="301" r:id="rId21"/>
    <p:sldId id="302" r:id="rId22"/>
    <p:sldId id="303" r:id="rId23"/>
    <p:sldId id="257" r:id="rId24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260BBC2F-C597-46C3-B87A-72F704B8B871}">
          <p14:sldIdLst>
            <p14:sldId id="256"/>
            <p14:sldId id="263"/>
            <p14:sldId id="286"/>
            <p14:sldId id="285"/>
            <p14:sldId id="287"/>
            <p14:sldId id="288"/>
            <p14:sldId id="289"/>
            <p14:sldId id="290"/>
            <p14:sldId id="292"/>
            <p14:sldId id="291"/>
            <p14:sldId id="293"/>
            <p14:sldId id="276"/>
            <p14:sldId id="294"/>
            <p14:sldId id="295"/>
            <p14:sldId id="296"/>
            <p14:sldId id="297"/>
            <p14:sldId id="298"/>
            <p14:sldId id="300"/>
            <p14:sldId id="299"/>
            <p14:sldId id="301"/>
            <p14:sldId id="302"/>
            <p14:sldId id="303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457"/>
    <a:srgbClr val="229DCE"/>
    <a:srgbClr val="37A7B6"/>
    <a:srgbClr val="63C08A"/>
    <a:srgbClr val="CA8D00"/>
    <a:srgbClr val="0072BB"/>
    <a:srgbClr val="00C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5" autoAdjust="0"/>
    <p:restoredTop sz="92606" autoAdjust="0"/>
  </p:normalViewPr>
  <p:slideViewPr>
    <p:cSldViewPr snapToGrid="0" showGuides="1">
      <p:cViewPr>
        <p:scale>
          <a:sx n="76" d="100"/>
          <a:sy n="76" d="100"/>
        </p:scale>
        <p:origin x="376" y="-440"/>
      </p:cViewPr>
      <p:guideLst>
        <p:guide orient="horz" pos="2183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12FF-2497-4412-9F52-9A72C6DE03A3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C350C-7E36-4A25-8475-753293016F81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C350C-7E36-4A25-8475-753293016F8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6992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C350C-7E36-4A25-8475-753293016F8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4618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05CB5-0309-48AD-82BF-BB7202639EF0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A8F6B-2235-4FC4-84F9-91D7D32A49B1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614076" y="-13311"/>
            <a:ext cx="9628258" cy="6858000"/>
          </a:xfrm>
          <a:prstGeom prst="rect">
            <a:avLst/>
          </a:prstGeom>
          <a:solidFill>
            <a:srgbClr val="003457"/>
          </a:solidFill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3" t="30291" r="66865" b="1639"/>
          <a:stretch>
            <a:fillRect/>
          </a:stretch>
        </p:blipFill>
        <p:spPr>
          <a:xfrm>
            <a:off x="9614018" y="4648932"/>
            <a:ext cx="2577981" cy="2200521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697936" y="458812"/>
            <a:ext cx="954439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80135"/>
            <a:r>
              <a:rPr lang="es-NI" sz="3000" b="1" dirty="0">
                <a:solidFill>
                  <a:schemeClr val="bg1"/>
                </a:solidFill>
              </a:rPr>
              <a:t>Área Conocimiento de Ciencias Básica y Tecnología</a:t>
            </a:r>
          </a:p>
          <a:p>
            <a:pPr algn="ctr" defTabSz="1080135"/>
            <a:r>
              <a:rPr lang="es-ES_tradnl" sz="3000" b="1" dirty="0">
                <a:solidFill>
                  <a:schemeClr val="bg1"/>
                </a:solidFill>
              </a:rPr>
              <a:t>Departamento docente de Computación</a:t>
            </a:r>
          </a:p>
          <a:p>
            <a:pPr defTabSz="1080135"/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0" y="2675530"/>
            <a:ext cx="190955" cy="1359574"/>
          </a:xfrm>
          <a:prstGeom prst="rect">
            <a:avLst/>
          </a:prstGeom>
          <a:solidFill>
            <a:srgbClr val="003457"/>
          </a:solidFill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55" y="2675530"/>
            <a:ext cx="2372787" cy="1359574"/>
          </a:xfrm>
          <a:prstGeom prst="rect">
            <a:avLst/>
          </a:prstGeom>
        </p:spPr>
      </p:pic>
      <p:sp>
        <p:nvSpPr>
          <p:cNvPr id="19" name="Triángulo rectángulo 18"/>
          <p:cNvSpPr/>
          <p:nvPr/>
        </p:nvSpPr>
        <p:spPr>
          <a:xfrm>
            <a:off x="2597298" y="0"/>
            <a:ext cx="1685847" cy="1749251"/>
          </a:xfrm>
          <a:prstGeom prst="rtTriangle">
            <a:avLst/>
          </a:prstGeom>
          <a:solidFill>
            <a:srgbClr val="0072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20"/>
          <p:cNvCxnSpPr/>
          <p:nvPr/>
        </p:nvCxnSpPr>
        <p:spPr>
          <a:xfrm>
            <a:off x="3998261" y="1749251"/>
            <a:ext cx="819373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2923908" y="2540104"/>
            <a:ext cx="8627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NI"/>
            </a:defPPr>
            <a:lvl1pPr algn="ctr" defTabSz="1080135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ES_tradnl" sz="2800" dirty="0">
                <a:solidFill>
                  <a:srgbClr val="FFFF00"/>
                </a:solidFill>
              </a:rPr>
              <a:t>Nombre: </a:t>
            </a:r>
            <a:r>
              <a:rPr lang="es-ES_tradnl" sz="2800" dirty="0" err="1">
                <a:solidFill>
                  <a:srgbClr val="FFFF00"/>
                </a:solidFill>
              </a:rPr>
              <a:t>PlayKids</a:t>
            </a:r>
            <a:r>
              <a:rPr lang="es-ES_tradnl" sz="2800" dirty="0">
                <a:solidFill>
                  <a:srgbClr val="FFFF00"/>
                </a:solidFill>
              </a:rPr>
              <a:t> Edu Company</a:t>
            </a:r>
            <a:endParaRPr lang="es-ES" sz="2800" dirty="0">
              <a:solidFill>
                <a:srgbClr val="FFFF00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412837" y="3557701"/>
            <a:ext cx="7650092" cy="2859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Grupo No. 3</a:t>
            </a:r>
          </a:p>
          <a:p>
            <a:pPr algn="ctr"/>
            <a:r>
              <a:rPr lang="en-US" sz="2800" dirty="0" err="1">
                <a:solidFill>
                  <a:schemeClr val="bg1"/>
                </a:solidFill>
              </a:rPr>
              <a:t>Integrantes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marL="342900" lvl="0" indent="-342900">
              <a:lnSpc>
                <a:spcPct val="106000"/>
              </a:lnSpc>
              <a:buFont typeface="+mj-lt"/>
              <a:buAutoNum type="arabicPeriod"/>
            </a:pPr>
            <a:r>
              <a:rPr lang="es-NI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25401777 </a:t>
            </a:r>
            <a:r>
              <a:rPr lang="es-NI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Alberto Sebastián López Cruz.</a:t>
            </a:r>
            <a:endParaRPr lang="es-NI" sz="1600" kern="100" dirty="0">
              <a:solidFill>
                <a:schemeClr val="bg1"/>
              </a:solidFill>
              <a:effectLst/>
              <a:latin typeface="Trebuchet MS" panose="020B0603020202020204" pitchFamily="34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+mj-lt"/>
              <a:buAutoNum type="arabicPeriod"/>
            </a:pPr>
            <a:r>
              <a:rPr lang="es-NI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25418891 </a:t>
            </a:r>
            <a:r>
              <a:rPr lang="es-NI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Cesar David Bermúdez Campos.</a:t>
            </a:r>
            <a:endParaRPr lang="es-NI" sz="1600" kern="100" dirty="0">
              <a:solidFill>
                <a:schemeClr val="bg1"/>
              </a:solidFill>
              <a:effectLst/>
              <a:latin typeface="Trebuchet MS" panose="020B0603020202020204" pitchFamily="34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+mj-lt"/>
              <a:buAutoNum type="arabicPeriod"/>
            </a:pPr>
            <a:r>
              <a:rPr lang="es-NI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25401247</a:t>
            </a:r>
            <a:r>
              <a:rPr lang="es-NI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José Ángel Borja Medrano.</a:t>
            </a:r>
            <a:endParaRPr lang="es-NI" sz="1600" kern="100" dirty="0">
              <a:solidFill>
                <a:schemeClr val="bg1"/>
              </a:solidFill>
              <a:effectLst/>
              <a:latin typeface="Trebuchet MS" panose="020B0603020202020204" pitchFamily="34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+mj-lt"/>
              <a:buAutoNum type="arabicPeriod"/>
            </a:pPr>
            <a:r>
              <a:rPr lang="es-NI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25403425</a:t>
            </a:r>
            <a:r>
              <a:rPr lang="es-NI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Javier de Jesús Salinas Arteaga.</a:t>
            </a:r>
            <a:endParaRPr lang="es-NI" sz="1600" kern="100" dirty="0">
              <a:solidFill>
                <a:schemeClr val="bg1"/>
              </a:solidFill>
              <a:effectLst/>
              <a:latin typeface="Trebuchet MS" panose="020B0603020202020204" pitchFamily="34" charset="0"/>
              <a:ea typeface="Aptos"/>
              <a:cs typeface="Times New Roman" panose="02020603050405020304" pitchFamily="18" charset="0"/>
            </a:endParaRPr>
          </a:p>
          <a:p>
            <a:pPr algn="ctr"/>
            <a:r>
              <a:rPr lang="es-ES" sz="2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2923908" y="3119983"/>
            <a:ext cx="8627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NI"/>
            </a:defPPr>
            <a:lvl1pPr algn="ctr" defTabSz="1080135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ES_tradnl" sz="2800" dirty="0" err="1">
                <a:solidFill>
                  <a:srgbClr val="FFFF00"/>
                </a:solidFill>
              </a:rPr>
              <a:t>Nombre:PlayKids</a:t>
            </a:r>
            <a:endParaRPr lang="es-ES" sz="2800" dirty="0">
              <a:solidFill>
                <a:srgbClr val="FFFF0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2786071" y="6156956"/>
            <a:ext cx="2777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</a:rPr>
              <a:t>Fecha: 28/11/25</a:t>
            </a:r>
            <a:endParaRPr lang="es-ES" sz="2400" i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456647" y="1885405"/>
            <a:ext cx="9544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80135"/>
            <a:r>
              <a:rPr lang="es-NI" sz="3000" b="1" dirty="0">
                <a:solidFill>
                  <a:schemeClr val="bg1"/>
                </a:solidFill>
              </a:rPr>
              <a:t>Ingeniería en Sistemas de Información</a:t>
            </a:r>
            <a:endParaRPr lang="es-ES_tradnl" sz="3000" b="1" dirty="0">
              <a:solidFill>
                <a:schemeClr val="bg1"/>
              </a:solidFill>
            </a:endParaRPr>
          </a:p>
          <a:p>
            <a:pPr defTabSz="1080135"/>
            <a:endParaRPr lang="es-E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683" y="57805"/>
            <a:ext cx="229092" cy="55179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94" t="59649"/>
          <a:stretch>
            <a:fillRect/>
          </a:stretch>
        </p:blipFill>
        <p:spPr>
          <a:xfrm>
            <a:off x="9896475" y="4725718"/>
            <a:ext cx="2295525" cy="2132281"/>
          </a:xfrm>
          <a:prstGeom prst="rect">
            <a:avLst/>
          </a:prstGeom>
          <a:effectLst>
            <a:glow>
              <a:schemeClr val="accent1"/>
            </a:glow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1230" y="6173979"/>
            <a:ext cx="4001406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0409" y="57805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solidFill>
                  <a:srgbClr val="00206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116466" y="619334"/>
            <a:ext cx="4816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Árbol de requerimientos del sistema</a:t>
            </a:r>
            <a:endParaRPr lang="es-NI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97CCDE1-D5C5-C1F0-6C33-BC663F76A2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0796" y="1219200"/>
            <a:ext cx="9263546" cy="40468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683" y="57805"/>
            <a:ext cx="229092" cy="55179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94" t="59649"/>
          <a:stretch>
            <a:fillRect/>
          </a:stretch>
        </p:blipFill>
        <p:spPr>
          <a:xfrm>
            <a:off x="9896475" y="4725718"/>
            <a:ext cx="2295525" cy="2132281"/>
          </a:xfrm>
          <a:prstGeom prst="rect">
            <a:avLst/>
          </a:prstGeom>
          <a:effectLst>
            <a:glow>
              <a:schemeClr val="accent1"/>
            </a:glow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1230" y="6173979"/>
            <a:ext cx="4001406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0409" y="57805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solidFill>
                  <a:srgbClr val="00206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116466" y="619334"/>
            <a:ext cx="4816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Árbol de requerimientos del sistema</a:t>
            </a:r>
            <a:endParaRPr lang="es-NI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5EC5E84-4AE4-264C-254F-35F80B4B76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061" y="1539187"/>
            <a:ext cx="8550834" cy="391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95412"/>
      </p:ext>
    </p:extLst>
  </p:cSld>
  <p:clrMapOvr>
    <a:masterClrMapping/>
  </p:clrMapOvr>
  <p:transition spd="slow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05"/>
            <a:ext cx="229092" cy="55179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94" t="59649"/>
          <a:stretch>
            <a:fillRect/>
          </a:stretch>
        </p:blipFill>
        <p:spPr>
          <a:xfrm>
            <a:off x="9896475" y="4725718"/>
            <a:ext cx="2295525" cy="2132281"/>
          </a:xfrm>
          <a:prstGeom prst="rect">
            <a:avLst/>
          </a:prstGeom>
          <a:effectLst>
            <a:glow>
              <a:schemeClr val="accent1"/>
            </a:glow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1230" y="6173979"/>
            <a:ext cx="4001406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9092" y="52937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solidFill>
                  <a:srgbClr val="00206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067863" y="666526"/>
            <a:ext cx="423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effectLst/>
                <a:latin typeface="Roboto Slab" pitchFamily="2" charset="0"/>
              </a:rPr>
              <a:t>Mapa de procesos de la organización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810479E-B991-AD7A-FEC9-933FA00DAB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98" y="1051060"/>
            <a:ext cx="9547377" cy="471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800047"/>
      </p:ext>
    </p:extLst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05"/>
            <a:ext cx="229092" cy="55179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94" t="59649"/>
          <a:stretch>
            <a:fillRect/>
          </a:stretch>
        </p:blipFill>
        <p:spPr>
          <a:xfrm>
            <a:off x="9896475" y="4725718"/>
            <a:ext cx="2295525" cy="2132281"/>
          </a:xfrm>
          <a:prstGeom prst="rect">
            <a:avLst/>
          </a:prstGeom>
          <a:effectLst>
            <a:glow>
              <a:schemeClr val="accent1"/>
            </a:glow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1230" y="6173979"/>
            <a:ext cx="4001406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9092" y="52937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solidFill>
                  <a:srgbClr val="00206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56092" y="610957"/>
            <a:ext cx="3028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Roboto Slab" pitchFamily="2" charset="0"/>
              </a:rPr>
              <a:t>M</a:t>
            </a:r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apeo y ficha de procesos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6A16915-2948-022C-97EF-C77440322CB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63" y="942088"/>
            <a:ext cx="8847395" cy="4973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19121"/>
      </p:ext>
    </p:extLst>
  </p:cSld>
  <p:clrMapOvr>
    <a:masterClrMapping/>
  </p:clrMapOvr>
  <p:transition spd="slow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05"/>
            <a:ext cx="229092" cy="55179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94" t="59649"/>
          <a:stretch>
            <a:fillRect/>
          </a:stretch>
        </p:blipFill>
        <p:spPr>
          <a:xfrm>
            <a:off x="9896475" y="4725718"/>
            <a:ext cx="2295525" cy="2132281"/>
          </a:xfrm>
          <a:prstGeom prst="rect">
            <a:avLst/>
          </a:prstGeom>
          <a:effectLst>
            <a:glow>
              <a:schemeClr val="accent1"/>
            </a:glow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1230" y="6173979"/>
            <a:ext cx="4001406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9092" y="52937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solidFill>
                  <a:srgbClr val="00206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56092" y="610957"/>
            <a:ext cx="3028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Roboto Slab" pitchFamily="2" charset="0"/>
              </a:rPr>
              <a:t>M</a:t>
            </a:r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apeo y ficha de procesos</a:t>
            </a:r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86CF91F-7D6A-A724-7403-7F144D72EC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806" y="980290"/>
            <a:ext cx="5663423" cy="512318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AE63CF1-2A23-3DBE-5976-41635EA017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525" y="1596884"/>
            <a:ext cx="5868974" cy="278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21487"/>
      </p:ext>
    </p:extLst>
  </p:cSld>
  <p:clrMapOvr>
    <a:masterClrMapping/>
  </p:clrMapOvr>
  <p:transition spd="slow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1230" y="6173979"/>
            <a:ext cx="5980770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9092" y="52937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solidFill>
                  <a:srgbClr val="00206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56092" y="610957"/>
            <a:ext cx="3028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Diagrama de procesos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A81D181-0A46-3F55-CC17-0F3820337660}"/>
              </a:ext>
            </a:extLst>
          </p:cNvPr>
          <p:cNvSpPr txBox="1"/>
          <p:nvPr/>
        </p:nvSpPr>
        <p:spPr>
          <a:xfrm>
            <a:off x="39726" y="992877"/>
            <a:ext cx="5230435" cy="4899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s-NI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Proceso de Desarrollo </a:t>
            </a:r>
            <a:endParaRPr lang="es-ES" sz="1600" b="1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Este proceso abarca todo lo que sucede “detrás de cámaras”, relacionado con la construcción de la lógica del sistema, el contenido educativo y las reglas que controlan los juegos.</a:t>
            </a:r>
            <a:endParaRPr lang="es-ES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¿Qué se hace en este proceso?</a:t>
            </a:r>
            <a:endParaRPr lang="es-ES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Definición del contenido educativo.</a:t>
            </a:r>
            <a:endParaRPr lang="es-E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Creación de estructuras internas.</a:t>
            </a:r>
            <a:endParaRPr lang="es-E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Programación de la lógica de juegos.</a:t>
            </a:r>
            <a:endParaRPr lang="es-E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Sistema de trofeos y metas.</a:t>
            </a:r>
            <a:endParaRPr lang="es-E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¿Cómo se muestra esto en la aplicación?</a:t>
            </a:r>
            <a:endParaRPr lang="es-E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Aparición de oraciones.</a:t>
            </a:r>
            <a:endParaRPr lang="es-E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Generación automática de opciones.</a:t>
            </a:r>
            <a:endParaRPr lang="es-E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NI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Actualización de puntaje.</a:t>
            </a:r>
            <a:endParaRPr lang="es-E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9831782-DA12-6B9A-C5C3-A615FF9921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166" y="1315645"/>
            <a:ext cx="6660753" cy="47618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3716233"/>
      </p:ext>
    </p:extLst>
  </p:cSld>
  <p:clrMapOvr>
    <a:masterClrMapping/>
  </p:clrMapOvr>
  <p:transition spd="slow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1230" y="6173979"/>
            <a:ext cx="5980770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9092" y="52937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solidFill>
                  <a:srgbClr val="00206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56092" y="610957"/>
            <a:ext cx="3028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Matriz general de proceso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71B31CA-2DA7-C379-7AD0-7843DECF1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46" y="1160635"/>
            <a:ext cx="5943600" cy="4848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19EA036-2F98-DE6F-F771-081681980B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337" y="1172841"/>
            <a:ext cx="5943600" cy="48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97037"/>
      </p:ext>
    </p:extLst>
  </p:cSld>
  <p:clrMapOvr>
    <a:masterClrMapping/>
  </p:clrMapOvr>
  <p:transition spd="slow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1230" y="6173979"/>
            <a:ext cx="5980770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9092" y="52937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solidFill>
                  <a:srgbClr val="00206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56092" y="610957"/>
            <a:ext cx="3028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Matriz general de proceso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B954433-F482-3F11-4519-6D1225B0C0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46" y="1167620"/>
            <a:ext cx="5943600" cy="48788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845D222-73B3-2A41-2817-152A2E80C3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3854" y="1167620"/>
            <a:ext cx="5943600" cy="476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97669"/>
      </p:ext>
    </p:extLst>
  </p:cSld>
  <p:clrMapOvr>
    <a:masterClrMapping/>
  </p:clrMapOvr>
  <p:transition spd="slow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1230" y="6173979"/>
            <a:ext cx="3852970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9092" y="52937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solidFill>
                  <a:srgbClr val="00206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22086" y="609600"/>
            <a:ext cx="47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Roles, funciones e involucrados en el área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D4A5CF1-AA3C-3E60-25C7-70C13D774C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87" y="1188699"/>
            <a:ext cx="8520146" cy="4745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B5173CC-D1E7-6000-BB73-6818EE990E5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94" t="59649"/>
          <a:stretch>
            <a:fillRect/>
          </a:stretch>
        </p:blipFill>
        <p:spPr>
          <a:xfrm>
            <a:off x="9896475" y="4725718"/>
            <a:ext cx="2295525" cy="2132281"/>
          </a:xfrm>
          <a:prstGeom prst="rect">
            <a:avLst/>
          </a:prstGeom>
          <a:effectLst>
            <a:glow>
              <a:schemeClr val="accent1"/>
            </a:glow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63633402"/>
      </p:ext>
    </p:extLst>
  </p:cSld>
  <p:clrMapOvr>
    <a:masterClrMapping/>
  </p:clrMapOvr>
  <p:transition spd="slow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1230" y="6173979"/>
            <a:ext cx="3852970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9092" y="52937"/>
            <a:ext cx="5041069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NI" sz="2400" b="1" dirty="0">
                <a:effectLst/>
                <a:latin typeface="Georgia" panose="02040502050405020303"/>
                <a:sym typeface="Georgia" panose="02040502050405020303"/>
              </a:rPr>
              <a:t>1</a:t>
            </a:r>
            <a:r>
              <a:rPr lang="es-NI" sz="2400" b="1" dirty="0">
                <a:solidFill>
                  <a:srgbClr val="002060"/>
                </a:solidFill>
                <a:effectLst/>
                <a:latin typeface="Georgia" panose="02040502050405020303"/>
                <a:sym typeface="Georgia" panose="02040502050405020303"/>
              </a:rPr>
              <a:t>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</a:t>
            </a:r>
            <a:r>
              <a:rPr lang="es-ES" sz="2400" b="1" dirty="0">
                <a:solidFill>
                  <a:srgbClr val="3F3F3F"/>
                </a:solidFill>
                <a:effectLst/>
                <a:latin typeface="Georgia-Bold"/>
              </a:rPr>
              <a:t>Análisis Estratégico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402405" y="670069"/>
            <a:ext cx="538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Análisis de equidad de género en los roles de TI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B5173CC-D1E7-6000-BB73-6818EE990E5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94" t="59649"/>
          <a:stretch>
            <a:fillRect/>
          </a:stretch>
        </p:blipFill>
        <p:spPr>
          <a:xfrm>
            <a:off x="9896475" y="4725718"/>
            <a:ext cx="2295525" cy="2132281"/>
          </a:xfrm>
          <a:prstGeom prst="rect">
            <a:avLst/>
          </a:prstGeom>
          <a:effectLst>
            <a:glow>
              <a:schemeClr val="accent1"/>
            </a:glow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EC9570F-67C7-2120-734B-2AF9DDA21D25}"/>
              </a:ext>
            </a:extLst>
          </p:cNvPr>
          <p:cNvSpPr txBox="1"/>
          <p:nvPr/>
        </p:nvSpPr>
        <p:spPr>
          <a:xfrm>
            <a:off x="338559" y="1039401"/>
            <a:ext cx="8828589" cy="499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200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 sector de Tecnologías de la Información (TI) se ha consolidado como el motor principal de la economía global, dinamizando, facilitando satisfactoriamente muchas tareas y trabajos, pero siempre ha existido un problema, la desigualdad de género. Esto es un problema debido a que usualmente se toma a un género superior al otro, pero en realidad no es así. Nosotros </a:t>
            </a:r>
            <a:r>
              <a:rPr lang="es-E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playkids</a:t>
            </a: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edu</a:t>
            </a: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company</a:t>
            </a: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percibimos tanto a varones y mujeres como indispensables para el sector tecnológico debido a sus grandes aportes para el constante cambio y evolución. Debido al bajo porcentaje de mujeres existente en el área tecnológica, no pudimos conformar nuestro grupo con mujeres, mas sin embargo esperamos próximamente poder formar nuestro grupo por varones y mujeres para reforzar nuestro equipo de trabajo compartir.</a:t>
            </a:r>
            <a:endParaRPr lang="es-ES" sz="18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411895"/>
      </p:ext>
    </p:extLst>
  </p:cSld>
  <p:clrMapOvr>
    <a:masterClrMapping/>
  </p:clrMapOvr>
  <p:transition spd="slow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497496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2.Análisis lógico y Diseño del Sistema de Información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814586" y="619334"/>
            <a:ext cx="456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Diagrama de las </a:t>
            </a:r>
            <a:r>
              <a:rPr lang="es-ES" sz="1800" dirty="0" err="1">
                <a:solidFill>
                  <a:srgbClr val="000000"/>
                </a:solidFill>
                <a:effectLst/>
                <a:latin typeface="Roboto Slab" pitchFamily="2" charset="0"/>
              </a:rPr>
              <a:t>Structs</a:t>
            </a:r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 del sistema</a:t>
            </a:r>
            <a:endParaRPr lang="es-NI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820C85-65EB-502F-B714-D7CC359EA679}"/>
              </a:ext>
            </a:extLst>
          </p:cNvPr>
          <p:cNvSpPr txBox="1"/>
          <p:nvPr/>
        </p:nvSpPr>
        <p:spPr>
          <a:xfrm>
            <a:off x="112144" y="804000"/>
            <a:ext cx="3307465" cy="4782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Usuario (</a:t>
            </a:r>
            <a:r>
              <a:rPr lang="es-E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Datos básicos del estudiante.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Progreso registrado.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Trofeos obtenidos en los juegos.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Progreso (</a:t>
            </a:r>
            <a:r>
              <a:rPr lang="es-E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Progress</a:t>
            </a: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Nivel actual.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Puntos acumulados.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Historial de participación.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Sesión de Juego (</a:t>
            </a:r>
            <a:r>
              <a:rPr lang="es-E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GameSession</a:t>
            </a: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Puntaje obtenido.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Número de errores.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Actividades realizadas.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Tipo de juego.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E1B131-17B2-F6FB-06CD-967149CC018B}"/>
              </a:ext>
            </a:extLst>
          </p:cNvPr>
          <p:cNvSpPr txBox="1"/>
          <p:nvPr/>
        </p:nvSpPr>
        <p:spPr>
          <a:xfrm>
            <a:off x="3248644" y="857034"/>
            <a:ext cx="2127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Preguntas del sistema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Oraciones (modo True/False).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Pares de palabras (modo traducción múltiple opción).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Trofeos</a:t>
            </a:r>
            <a:b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Reconocimientos obtenidos por desempeño o logros.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7005CD3-1BBF-3DC7-ADE2-C999C4F8A3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954" y="1315988"/>
            <a:ext cx="568198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497496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2.Análisis lógico y Diseño del Sistema de Información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814586" y="619334"/>
            <a:ext cx="456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Aplicación de arboles y grafos</a:t>
            </a:r>
            <a:endParaRPr lang="es-NI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BEC1F47-EB64-6071-DFF5-23C46F8BE2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1" t="7106" r="5957" b="6984"/>
          <a:stretch/>
        </p:blipFill>
        <p:spPr bwMode="auto">
          <a:xfrm>
            <a:off x="665544" y="988666"/>
            <a:ext cx="5430455" cy="50023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773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497496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3F3F3F"/>
                </a:solidFill>
                <a:latin typeface="Georgia-Bold"/>
                <a:ea typeface="Georgia" panose="02040502050405020303"/>
                <a:cs typeface="Georgia" panose="02040502050405020303"/>
                <a:sym typeface="Georgia" panose="02040502050405020303"/>
              </a:rPr>
              <a:t>3</a:t>
            </a:r>
            <a:r>
              <a:rPr lang="es-ES" sz="2400" b="1" dirty="0">
                <a:solidFill>
                  <a:srgbClr val="3F3F3F"/>
                </a:solidFill>
                <a:latin typeface="Georgia-Bold"/>
                <a:ea typeface="Georgia" panose="02040502050405020303"/>
                <a:cs typeface="Georgia" panose="02040502050405020303"/>
                <a:sym typeface="Georgia" panose="02040502050405020303"/>
              </a:rPr>
              <a:t>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Resultados del Prototipo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948702" y="622219"/>
            <a:ext cx="4294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Capturas de pantalla de la aplicación</a:t>
            </a:r>
            <a:endParaRPr lang="es-NI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704D52-4EAF-CF24-D5F0-88EC1EFE06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88" y="1189764"/>
            <a:ext cx="3248314" cy="447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EA090CB-9A95-40AF-99DA-842AEDB044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1278" y="1181907"/>
            <a:ext cx="3248314" cy="443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9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497496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3F3F3F"/>
                </a:solidFill>
                <a:latin typeface="Georgia-Bold"/>
                <a:ea typeface="Georgia" panose="02040502050405020303"/>
                <a:cs typeface="Georgia" panose="02040502050405020303"/>
                <a:sym typeface="Georgia" panose="02040502050405020303"/>
              </a:rPr>
              <a:t>3</a:t>
            </a:r>
            <a:r>
              <a:rPr lang="es-ES" sz="2400" b="1" dirty="0">
                <a:solidFill>
                  <a:srgbClr val="3F3F3F"/>
                </a:solidFill>
                <a:latin typeface="Georgia-Bold"/>
                <a:ea typeface="Georgia" panose="02040502050405020303"/>
                <a:cs typeface="Georgia" panose="02040502050405020303"/>
                <a:sym typeface="Georgia" panose="02040502050405020303"/>
              </a:rPr>
              <a:t>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Resultados del Prototipo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453504" y="622219"/>
            <a:ext cx="5431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Descripción de funcionalidades principales</a:t>
            </a:r>
            <a:endParaRPr lang="es-NI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1A0D4C-60DE-6E10-7197-39228DA156BC}"/>
              </a:ext>
            </a:extLst>
          </p:cNvPr>
          <p:cNvSpPr txBox="1"/>
          <p:nvPr/>
        </p:nvSpPr>
        <p:spPr>
          <a:xfrm>
            <a:off x="112144" y="655131"/>
            <a:ext cx="6113122" cy="5547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200000"/>
              </a:lnSpc>
            </a:pPr>
            <a:r>
              <a:rPr lang="es-E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Interfaz gráfica intuitiva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Diseño enfocado en niños, con colores suaves, íconos grandes y navegación sencilla.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Menús accesibles y distribuidos por categorías de aprendizaje.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200000"/>
              </a:lnSpc>
            </a:pPr>
            <a:r>
              <a:rPr lang="es-E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Actividades </a:t>
            </a:r>
            <a:r>
              <a:rPr lang="es-E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gamificadas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Ejercicios visuales (selección de imágenes).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Actividades auditivas (reconocimiento de sonido-palabra).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Juegos de asociación (arrastrar y soltar).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Retroalimentación inmediata para reforzar el aprendizaje.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7D63960-1BB3-C472-8963-BB99416A20C7}"/>
              </a:ext>
            </a:extLst>
          </p:cNvPr>
          <p:cNvSpPr txBox="1"/>
          <p:nvPr/>
        </p:nvSpPr>
        <p:spPr>
          <a:xfrm>
            <a:off x="6022695" y="748781"/>
            <a:ext cx="6113122" cy="544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200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Gestión básica de usuarios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Creación de perfiles simples.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Registro local del nombre, avatar y nivel alcanzado.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200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Control de progreso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Registro de resultados de cada actividad.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Indicadores de nivel (Inicial, Básico, Medio, Avanzado).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200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 Multiplataforma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Compatible con computadoras, </a:t>
            </a:r>
            <a:r>
              <a:rPr lang="es-E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tablets</a:t>
            </a: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 teléfonos móviles.</a:t>
            </a:r>
            <a:endParaRPr lang="es-ES" sz="1600" kern="100" dirty="0">
              <a:effectLst/>
              <a:latin typeface="Trebuchet MS" panose="020B0603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Optimizado para dispositivos de gama baja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36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497496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3F3F3F"/>
                </a:solidFill>
                <a:latin typeface="Georgia-Bold"/>
                <a:ea typeface="Georgia" panose="02040502050405020303"/>
                <a:cs typeface="Georgia" panose="02040502050405020303"/>
                <a:sym typeface="Georgia" panose="02040502050405020303"/>
              </a:rPr>
              <a:t>3</a:t>
            </a:r>
            <a:r>
              <a:rPr lang="es-ES" sz="2400" b="1" dirty="0">
                <a:solidFill>
                  <a:srgbClr val="3F3F3F"/>
                </a:solidFill>
                <a:latin typeface="Georgia-Bold"/>
                <a:ea typeface="Georgia" panose="02040502050405020303"/>
                <a:cs typeface="Georgia" panose="02040502050405020303"/>
                <a:sym typeface="Georgia" panose="02040502050405020303"/>
              </a:rPr>
              <a:t>.</a:t>
            </a: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 Resultados del Prototipo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380198" y="609600"/>
            <a:ext cx="5431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Limitaciones actuales y posibles mejoras</a:t>
            </a:r>
            <a:endParaRPr lang="es-NI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41B762-ABB3-F3BB-A052-B0CF217E79EC}"/>
              </a:ext>
            </a:extLst>
          </p:cNvPr>
          <p:cNvSpPr txBox="1"/>
          <p:nvPr/>
        </p:nvSpPr>
        <p:spPr>
          <a:xfrm>
            <a:off x="112144" y="978932"/>
            <a:ext cx="61131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prototipo de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aún es limitado: solo tiene pocas actividades, la gestión de usuarios es muy básica y sin sincronización en la nube, lo que afecta el seguimiento del progreso. El almacenamiento local impide generar reportes completos. La interfaz funciona, pero le faltan mejores gráficos y animaciones. Además, no incluye personalización, así que no adapta el contenido al rendimiento de cada estudiante.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85A05B4-DEC7-1EBA-82E4-5D18F508EAD5}"/>
              </a:ext>
            </a:extLst>
          </p:cNvPr>
          <p:cNvSpPr txBox="1"/>
          <p:nvPr/>
        </p:nvSpPr>
        <p:spPr>
          <a:xfrm>
            <a:off x="39726" y="3369855"/>
            <a:ext cx="61131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planea ampliar las actividades, agregar nuevos módulos y reforzar la gamificación. Técnicamente, se busca usar almacenamiento en la nube para sincronizar perfiles y generar reportes. También se pretende integrar IA para personalizar el aprendizaje. La interfaz se mejorará con animaciones, avatares y mejor accesibilidad. Además, se desarrollarán paneles para instituciones, funciones colaborativas y compatibilidad con LMS para hacer la plataforma más completa y escalable.</a:t>
            </a:r>
          </a:p>
        </p:txBody>
      </p:sp>
      <p:pic>
        <p:nvPicPr>
          <p:cNvPr id="15" name="Imagen 1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7246A2F-0540-5F25-9585-F1A861C1CA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744" y="1705853"/>
            <a:ext cx="3712395" cy="371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6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89" y="57805"/>
            <a:ext cx="5218613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4.Impacto Organizacional y Ético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171326" y="609600"/>
            <a:ext cx="184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Análisis ético</a:t>
            </a:r>
            <a:endParaRPr lang="es-NI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FB572A6-CF74-CE0F-4F2B-E8E3C016BC72}"/>
              </a:ext>
            </a:extLst>
          </p:cNvPr>
          <p:cNvSpPr txBox="1"/>
          <p:nvPr/>
        </p:nvSpPr>
        <p:spPr>
          <a:xfrm>
            <a:off x="226689" y="1171129"/>
            <a:ext cx="61131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transformación digital en 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PlayKidsEdu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Company busca mejorar el aprendizaje, pero siempre bajo una ética sólida que proteja a los niños y asegure un uso responsable de la tecnología. La empresa fundamenta su desarrollo en cinco principios clave: seguridad, transparencia, confiabilidad, accesibilidad y responsabilidad social.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EE05AD3-603B-8789-08F5-BB81CF7E4347}"/>
              </a:ext>
            </a:extLst>
          </p:cNvPr>
          <p:cNvSpPr txBox="1"/>
          <p:nvPr/>
        </p:nvSpPr>
        <p:spPr>
          <a:xfrm>
            <a:off x="226689" y="3380883"/>
            <a:ext cx="611312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Estos valores guían todo el proceso: proteger datos con medidas fuertes, explicar claramente cómo funcionan los sistemas, garantizar software estable y de calidad, asegurar que la plataforma funcione para todos sin importar sus recursos, y diseñar tecnología que aporte al bienestar y desarrollo integral de los estudiantes. Con esto, 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PlayKidsEdu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asegura una innovación segura, justa y alineada con su compromiso educativo.</a:t>
            </a:r>
          </a:p>
        </p:txBody>
      </p:sp>
    </p:spTree>
    <p:extLst>
      <p:ext uri="{BB962C8B-B14F-4D97-AF65-F5344CB8AC3E}">
        <p14:creationId xmlns:p14="http://schemas.microsoft.com/office/powerpoint/2010/main" val="295924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542409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5.Conclusiones y lecciones aprendidas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627762" y="619334"/>
            <a:ext cx="5424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Síntesis de aprendizaje organizacional</a:t>
            </a:r>
            <a:endParaRPr lang="es-NI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EE05AD3-603B-8789-08F5-BB81CF7E4347}"/>
              </a:ext>
            </a:extLst>
          </p:cNvPr>
          <p:cNvSpPr txBox="1"/>
          <p:nvPr/>
        </p:nvSpPr>
        <p:spPr>
          <a:xfrm>
            <a:off x="226690" y="988666"/>
            <a:ext cx="96775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PlayKidsEdu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Company fortaleció su cultura interna al trabajar con equipos de tecnología, pedagogía y diseño, aprendiendo a coordinarse, planificar y tomar decisiones con enfoque en </a:t>
            </a:r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equidad, calidad e innovación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los valores que guían a la empresa. Su aprendizaje organizacional se ve en cinco puntos clave: identificar la falta de recursos inclusivos, formar un equipo multidisciplinario, comprometerse con la educación de calidad, operar bajo un modelo gratuito y sin fines de lucro, y mantener una visión estratégica para liderar soluciones 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EdTech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Latinoamérica. En resumen: aprendieron a organizarse, trabajar con propósito y sostener una misión social clara.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E5BE3B-ECFC-4ED4-92AE-56D9FC6E4CAB}"/>
              </a:ext>
            </a:extLst>
          </p:cNvPr>
          <p:cNvSpPr txBox="1"/>
          <p:nvPr/>
        </p:nvSpPr>
        <p:spPr>
          <a:xfrm>
            <a:off x="226690" y="3666322"/>
            <a:ext cx="98375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desarrollo de 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permitió al equipo dominar diseño de sistemas interactivos, uso de estructuras de datos, programación modular y validaciones. La app se construyó bajo el modelo Entrada–Proceso–Salida y como un sistema KMS, gestionando contenido educativo con lógica y seguimiento del progreso. También integraron gamificación, recursos visuales y auditivos, y manejo de usuarios, logrando un software educativo multiplataforma, accesible y funcional para el aprendizaje de idiomas.</a:t>
            </a:r>
          </a:p>
        </p:txBody>
      </p:sp>
    </p:spTree>
    <p:extLst>
      <p:ext uri="{BB962C8B-B14F-4D97-AF65-F5344CB8AC3E}">
        <p14:creationId xmlns:p14="http://schemas.microsoft.com/office/powerpoint/2010/main" val="268020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542409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5.Conclusiones y lecciones aprendidas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627762" y="619334"/>
            <a:ext cx="5424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Grado de cumplimiento de los objetivos</a:t>
            </a:r>
            <a:endParaRPr lang="es-NI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DC5C8A-F859-B7B5-DA3C-5A506BE21053}"/>
              </a:ext>
            </a:extLst>
          </p:cNvPr>
          <p:cNvSpPr txBox="1"/>
          <p:nvPr/>
        </p:nvSpPr>
        <p:spPr>
          <a:xfrm>
            <a:off x="226690" y="1000133"/>
            <a:ext cx="7211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Emprendimiento:</a:t>
            </a:r>
          </a:p>
          <a:p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PlayKidsEdu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cumplió sus metas: consolidó su propósito social y educativo, creó un modelo organizativo coherente y validó su propuesta como emprendimiento 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EdTech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viable. Sus logros clave incluyen: enfocarse en la equidad y accesibilidad, operar gratis y sin fines de lucro, alinearse con el ODS 4, y trabajar con un equipo multidisciplinario que une lo técnico y lo pedagógico.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1A688BD-2EA6-ACAC-02CE-F9EC274E1AB8}"/>
              </a:ext>
            </a:extLst>
          </p:cNvPr>
          <p:cNvSpPr txBox="1"/>
          <p:nvPr/>
        </p:nvSpPr>
        <p:spPr>
          <a:xfrm>
            <a:off x="226690" y="3572961"/>
            <a:ext cx="73659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Primer Producto: 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</a:t>
            </a:r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alcanzó sus objetivos iniciales con un prototipo funcional, 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gamificado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multiplataforma que demuestra su viabilidad técnica y pedagógica. Cumplió con: aplicar gamificación, registrar el progreso con estructuras de datos, integrar un diseño pedagógico sólido y mantenerse como herramienta gratuita e inclusiva. Solo falta probarla en escenarios reales para escalarla y pulirla.</a:t>
            </a:r>
          </a:p>
        </p:txBody>
      </p:sp>
    </p:spTree>
    <p:extLst>
      <p:ext uri="{BB962C8B-B14F-4D97-AF65-F5344CB8AC3E}">
        <p14:creationId xmlns:p14="http://schemas.microsoft.com/office/powerpoint/2010/main" val="243910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542409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5.Conclusiones y lecciones aprendidas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627762" y="619334"/>
            <a:ext cx="5424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Perspectivas de mejora y escalabilidad</a:t>
            </a:r>
            <a:endParaRPr lang="es-NI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DCE744-E21E-5CD9-FEB5-4982A2A18A14}"/>
              </a:ext>
            </a:extLst>
          </p:cNvPr>
          <p:cNvSpPr txBox="1"/>
          <p:nvPr/>
        </p:nvSpPr>
        <p:spPr>
          <a:xfrm>
            <a:off x="112144" y="1271675"/>
            <a:ext cx="51692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Escalabilidad Vertical:</a:t>
            </a:r>
          </a:p>
          <a:p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PlayKidsEdu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planea integrar IA, analítica de datos y nube para personalizar el aprendizaje, manejar grandes volúmenes de información y permitir acceso desde cualquier dispositivo. También desarrollará paneles para docentes y administradores, con reportes y métricas que apoyen decisiones pedagógicas basadas en datos.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371D83-2B96-8052-BFC0-9EF7890EE12E}"/>
              </a:ext>
            </a:extLst>
          </p:cNvPr>
          <p:cNvSpPr txBox="1"/>
          <p:nvPr/>
        </p:nvSpPr>
        <p:spPr>
          <a:xfrm>
            <a:off x="112144" y="3788524"/>
            <a:ext cx="58370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Escalabilidad Horizontal:</a:t>
            </a: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empresa puede expandirse hacia nuevas áreas como matemáticas, ciencias o lectura, adaptando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distintas edades y niveles educativos. También contempla alianzas con escuelas,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ONGs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ministerios, llevando la plataforma a comunidades de bajos recursos y ampliando su impacto social.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4834FF3-F17E-236E-F9FA-6757FDF7684C}"/>
              </a:ext>
            </a:extLst>
          </p:cNvPr>
          <p:cNvSpPr txBox="1"/>
          <p:nvPr/>
        </p:nvSpPr>
        <p:spPr>
          <a:xfrm>
            <a:off x="6221339" y="1219200"/>
            <a:ext cx="55939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Perspectivas de Mejora:</a:t>
            </a:r>
          </a:p>
          <a:p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PlayKidsEdu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busca mejorar la interfaz, reforzar la gamificación y añadir evaluación automática y funciones colaborativas.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Mejoras funcionales: personalización con IA, gamificación más profunda y paneles para docentes.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Mejoras técnicas: mejor rendimiento, mayor seguridad de datos y conexión con LMS como Moodle o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Classroom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335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542409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6.Desarrollo Técnico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6A94DA1-0F4F-1B25-2C44-B44B77FB14C6}"/>
              </a:ext>
            </a:extLst>
          </p:cNvPr>
          <p:cNvSpPr txBox="1"/>
          <p:nvPr/>
        </p:nvSpPr>
        <p:spPr>
          <a:xfrm>
            <a:off x="112144" y="837025"/>
            <a:ext cx="3827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Manejo de estructuras de datos</a:t>
            </a:r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903E2E3-3CC7-E08D-F477-9CFED75DED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690" y="1196829"/>
            <a:ext cx="3338443" cy="154102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7CA1781-A9D7-9D1F-CB01-0CB84475E8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90" y="2768578"/>
            <a:ext cx="2905530" cy="151468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CC5CA1E-1823-F088-DBFB-F7FB69EA65C0}"/>
              </a:ext>
            </a:extLst>
          </p:cNvPr>
          <p:cNvSpPr txBox="1"/>
          <p:nvPr/>
        </p:nvSpPr>
        <p:spPr>
          <a:xfrm>
            <a:off x="4166170" y="827497"/>
            <a:ext cx="253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Algoritmos aplicados</a:t>
            </a:r>
            <a:endParaRPr lang="es-ES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F7C88CE5-93DD-FD4E-98DB-AAF6D11AD8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6170" y="1427363"/>
            <a:ext cx="7081533" cy="25168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4C3111E-639A-6675-178B-17A3C838A0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2833" y="1841772"/>
            <a:ext cx="513461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7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200" y="0"/>
            <a:ext cx="2127800" cy="121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2" y="57805"/>
            <a:ext cx="229092" cy="551795"/>
          </a:xfrm>
          <a:prstGeom prst="rect">
            <a:avLst/>
          </a:prstGeom>
        </p:spPr>
      </p:pic>
      <p:pic>
        <p:nvPicPr>
          <p:cNvPr id="5" name="Gráfico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06" y="6171332"/>
            <a:ext cx="6056274" cy="686668"/>
          </a:xfrm>
          <a:prstGeom prst="rect">
            <a:avLst/>
          </a:prstGeom>
        </p:spPr>
      </p:pic>
      <p:pic>
        <p:nvPicPr>
          <p:cNvPr id="6" name="Gráfico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6" y="6189181"/>
            <a:ext cx="6056274" cy="686668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26690" y="57805"/>
            <a:ext cx="5424098" cy="56152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44000" tIns="0" rIns="79200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3F3F3F"/>
                </a:solidFill>
                <a:effectLst/>
                <a:latin typeface="Georgia-Bold"/>
              </a:rPr>
              <a:t>6.Desarrollo Técnico</a:t>
            </a:r>
            <a:endParaRPr lang="es-NI" sz="2400" b="1" dirty="0">
              <a:solidFill>
                <a:srgbClr val="00206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119CF36-2223-0ABE-336D-C9BE58D8B34C}"/>
              </a:ext>
            </a:extLst>
          </p:cNvPr>
          <p:cNvSpPr txBox="1"/>
          <p:nvPr/>
        </p:nvSpPr>
        <p:spPr>
          <a:xfrm>
            <a:off x="2026579" y="849868"/>
            <a:ext cx="7248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effectLst/>
                <a:latin typeface="Roboto Slab" pitchFamily="2" charset="0"/>
              </a:rPr>
              <a:t>Integración de componentes en un programa funcional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5A9E16C-05FA-1E88-EC19-EB9E77B96B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40" y="1288551"/>
            <a:ext cx="6448425" cy="2927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593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457"/>
          </a:solidFill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917" y="1937708"/>
            <a:ext cx="4303075" cy="2471923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022829" y="5176348"/>
            <a:ext cx="4146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¡Universidad del Pueblo y para el pueblo!</a:t>
            </a:r>
            <a:endParaRPr lang="es-ES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1510</Words>
  <Application>Microsoft Office PowerPoint</Application>
  <PresentationFormat>Panorámica</PresentationFormat>
  <Paragraphs>107</Paragraphs>
  <Slides>23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Georgia</vt:lpstr>
      <vt:lpstr>Georgia-Bold</vt:lpstr>
      <vt:lpstr>Roboto Slab</vt:lpstr>
      <vt:lpstr>Symbol</vt:lpstr>
      <vt:lpstr>Times New Roman</vt:lpstr>
      <vt:lpstr>Trebuchet MS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Rodolfo Medina cel</dc:creator>
  <cp:lastModifiedBy>JAVIER SALINAS</cp:lastModifiedBy>
  <cp:revision>358</cp:revision>
  <dcterms:created xsi:type="dcterms:W3CDTF">2022-07-10T00:05:00Z</dcterms:created>
  <dcterms:modified xsi:type="dcterms:W3CDTF">2025-11-29T15:13:42Z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3BD5F1740DF24311B9B684F375D0B9EB_13</vt:lpwstr>
  </property>
  <property fmtid="{D5CDD505-2E9C-101B-9397-08002B2CF9AE}" pid="3" name="KSOProductBuildVer">
    <vt:lpwstr>3082-12.2.0.22549</vt:lpwstr>
  </property>
</Properties>
</file>