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4" d="100"/>
          <a:sy n="44" d="100"/>
        </p:scale>
        <p:origin x="66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1996" y="353203"/>
            <a:ext cx="316293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4008" y="353203"/>
            <a:ext cx="16219983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8066" y="2507900"/>
            <a:ext cx="7581265" cy="5697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69300" y="3734749"/>
            <a:ext cx="9013825" cy="35115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252980">
              <a:lnSpc>
                <a:spcPct val="100000"/>
              </a:lnSpc>
              <a:spcBef>
                <a:spcPts val="715"/>
              </a:spcBef>
            </a:pPr>
            <a:r>
              <a:rPr sz="3300" spc="60" dirty="0">
                <a:latin typeface="Tahoma"/>
                <a:cs typeface="Tahoma"/>
              </a:rPr>
              <a:t>Integrantes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spc="125" dirty="0">
                <a:latin typeface="Tahoma"/>
                <a:cs typeface="Tahoma"/>
              </a:rPr>
              <a:t>del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80" dirty="0">
                <a:latin typeface="Tahoma"/>
                <a:cs typeface="Tahoma"/>
              </a:rPr>
              <a:t>equipo: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spc="-10" dirty="0">
                <a:latin typeface="Tahoma"/>
                <a:cs typeface="Tahoma"/>
              </a:rPr>
              <a:t>·(25401775)</a:t>
            </a:r>
            <a:r>
              <a:rPr sz="3300" spc="-180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-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130" dirty="0">
                <a:latin typeface="Tahoma"/>
                <a:cs typeface="Tahoma"/>
              </a:rPr>
              <a:t>Alberto</a:t>
            </a:r>
            <a:r>
              <a:rPr sz="3300" spc="-180" dirty="0">
                <a:latin typeface="Tahoma"/>
                <a:cs typeface="Tahoma"/>
              </a:rPr>
              <a:t> </a:t>
            </a:r>
            <a:r>
              <a:rPr sz="3300" spc="90" dirty="0">
                <a:latin typeface="Tahoma"/>
                <a:cs typeface="Tahoma"/>
              </a:rPr>
              <a:t>Sebastián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135" dirty="0">
                <a:latin typeface="Tahoma"/>
                <a:cs typeface="Tahoma"/>
              </a:rPr>
              <a:t>López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60" dirty="0">
                <a:latin typeface="Tahoma"/>
                <a:cs typeface="Tahoma"/>
              </a:rPr>
              <a:t>Cruz.</a:t>
            </a:r>
            <a:endParaRPr sz="3300">
              <a:latin typeface="Tahoma"/>
              <a:cs typeface="Tahoma"/>
            </a:endParaRPr>
          </a:p>
          <a:p>
            <a:pPr marL="231775" indent="-219075">
              <a:lnSpc>
                <a:spcPct val="100000"/>
              </a:lnSpc>
              <a:spcBef>
                <a:spcPts val="615"/>
              </a:spcBef>
              <a:buChar char="·"/>
              <a:tabLst>
                <a:tab pos="231775" algn="l"/>
              </a:tabLst>
            </a:pPr>
            <a:r>
              <a:rPr sz="3300" dirty="0">
                <a:latin typeface="Tahoma"/>
                <a:cs typeface="Tahoma"/>
              </a:rPr>
              <a:t>(25418891)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-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spc="95" dirty="0">
                <a:latin typeface="Tahoma"/>
                <a:cs typeface="Tahoma"/>
              </a:rPr>
              <a:t>Cesar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95" dirty="0">
                <a:latin typeface="Tahoma"/>
                <a:cs typeface="Tahoma"/>
              </a:rPr>
              <a:t>David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spc="160" dirty="0">
                <a:latin typeface="Tahoma"/>
                <a:cs typeface="Tahoma"/>
              </a:rPr>
              <a:t>Bermúdez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95" dirty="0">
                <a:latin typeface="Tahoma"/>
                <a:cs typeface="Tahoma"/>
              </a:rPr>
              <a:t>Campos.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spc="-10" dirty="0">
                <a:latin typeface="Tahoma"/>
                <a:cs typeface="Tahoma"/>
              </a:rPr>
              <a:t>·(25401247)</a:t>
            </a:r>
            <a:r>
              <a:rPr sz="3300" spc="-225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-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José</a:t>
            </a:r>
            <a:r>
              <a:rPr sz="3300" spc="-195" dirty="0">
                <a:latin typeface="Tahoma"/>
                <a:cs typeface="Tahoma"/>
              </a:rPr>
              <a:t> </a:t>
            </a:r>
            <a:r>
              <a:rPr sz="3300" spc="80" dirty="0">
                <a:latin typeface="Tahoma"/>
                <a:cs typeface="Tahoma"/>
              </a:rPr>
              <a:t>Ángel</a:t>
            </a:r>
            <a:r>
              <a:rPr sz="3300" spc="-195" dirty="0">
                <a:latin typeface="Tahoma"/>
                <a:cs typeface="Tahoma"/>
              </a:rPr>
              <a:t> </a:t>
            </a:r>
            <a:r>
              <a:rPr sz="3300" spc="105" dirty="0">
                <a:latin typeface="Tahoma"/>
                <a:cs typeface="Tahoma"/>
              </a:rPr>
              <a:t>Borja</a:t>
            </a:r>
            <a:r>
              <a:rPr sz="3300" spc="-195" dirty="0">
                <a:latin typeface="Tahoma"/>
                <a:cs typeface="Tahoma"/>
              </a:rPr>
              <a:t> </a:t>
            </a:r>
            <a:r>
              <a:rPr sz="3300" spc="140" dirty="0">
                <a:latin typeface="Tahoma"/>
                <a:cs typeface="Tahoma"/>
              </a:rPr>
              <a:t>Medrano.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300" spc="-10" dirty="0">
                <a:latin typeface="Tahoma"/>
                <a:cs typeface="Tahoma"/>
              </a:rPr>
              <a:t>·(25403425)</a:t>
            </a:r>
            <a:r>
              <a:rPr sz="3300" spc="-220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-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Javier</a:t>
            </a:r>
            <a:r>
              <a:rPr sz="3300" spc="-200" dirty="0">
                <a:latin typeface="Tahoma"/>
                <a:cs typeface="Tahoma"/>
              </a:rPr>
              <a:t> </a:t>
            </a:r>
            <a:r>
              <a:rPr sz="3300" spc="140" dirty="0">
                <a:latin typeface="Tahoma"/>
                <a:cs typeface="Tahoma"/>
              </a:rPr>
              <a:t>de</a:t>
            </a:r>
            <a:r>
              <a:rPr sz="3300" spc="-19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Jesús</a:t>
            </a:r>
            <a:r>
              <a:rPr sz="3300" spc="-195" dirty="0">
                <a:latin typeface="Tahoma"/>
                <a:cs typeface="Tahoma"/>
              </a:rPr>
              <a:t> </a:t>
            </a:r>
            <a:r>
              <a:rPr sz="3300" spc="85" dirty="0">
                <a:latin typeface="Tahoma"/>
                <a:cs typeface="Tahoma"/>
              </a:rPr>
              <a:t>Salinas</a:t>
            </a:r>
            <a:r>
              <a:rPr sz="3300" spc="-200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Arteaga.</a:t>
            </a:r>
            <a:endParaRPr sz="3300">
              <a:latin typeface="Tahoma"/>
              <a:cs typeface="Tahoma"/>
            </a:endParaRPr>
          </a:p>
          <a:p>
            <a:pPr marL="231775" indent="-219075">
              <a:lnSpc>
                <a:spcPct val="100000"/>
              </a:lnSpc>
              <a:spcBef>
                <a:spcPts val="615"/>
              </a:spcBef>
              <a:buChar char="·"/>
              <a:tabLst>
                <a:tab pos="231775" algn="l"/>
              </a:tabLst>
            </a:pPr>
            <a:r>
              <a:rPr sz="3300" dirty="0">
                <a:latin typeface="Tahoma"/>
                <a:cs typeface="Tahoma"/>
              </a:rPr>
              <a:t>(25415613)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-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65" dirty="0">
                <a:latin typeface="Tahoma"/>
                <a:cs typeface="Tahoma"/>
              </a:rPr>
              <a:t>Kelly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95" dirty="0">
                <a:latin typeface="Tahoma"/>
                <a:cs typeface="Tahoma"/>
              </a:rPr>
              <a:t>Raquel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135" dirty="0">
                <a:latin typeface="Tahoma"/>
                <a:cs typeface="Tahoma"/>
              </a:rPr>
              <a:t>Martínez</a:t>
            </a:r>
            <a:r>
              <a:rPr sz="3300" spc="-160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Rocha.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748487" y="992790"/>
            <a:ext cx="6020435" cy="187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0605">
              <a:lnSpc>
                <a:spcPct val="116599"/>
              </a:lnSpc>
              <a:spcBef>
                <a:spcPts val="100"/>
              </a:spcBef>
            </a:pPr>
            <a:r>
              <a:rPr sz="5200" spc="110" dirty="0">
                <a:latin typeface="Verdana"/>
                <a:cs typeface="Verdana"/>
              </a:rPr>
              <a:t>Nombre</a:t>
            </a:r>
            <a:r>
              <a:rPr sz="5200" spc="-420" dirty="0">
                <a:latin typeface="Verdana"/>
                <a:cs typeface="Verdana"/>
              </a:rPr>
              <a:t> </a:t>
            </a:r>
            <a:r>
              <a:rPr sz="5200" spc="80" dirty="0">
                <a:latin typeface="Verdana"/>
                <a:cs typeface="Verdana"/>
              </a:rPr>
              <a:t>del </a:t>
            </a:r>
            <a:r>
              <a:rPr sz="5200" spc="-10" dirty="0">
                <a:latin typeface="Verdana"/>
                <a:cs typeface="Verdana"/>
              </a:rPr>
              <a:t>Producto:PlayKids</a:t>
            </a:r>
            <a:endParaRPr sz="5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0609" y="8844273"/>
            <a:ext cx="5016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Verdana"/>
                <a:cs typeface="Verdana"/>
              </a:rPr>
              <a:t>Sábado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20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mayo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2026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"/>
            <a:ext cx="18287999" cy="101726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3908" y="272831"/>
            <a:ext cx="557784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1.Problema</a:t>
            </a:r>
            <a:r>
              <a:rPr spc="-270" dirty="0"/>
              <a:t> </a:t>
            </a:r>
            <a:r>
              <a:rPr spc="-195" dirty="0"/>
              <a:t>y</a:t>
            </a:r>
            <a:r>
              <a:rPr spc="-265" dirty="0"/>
              <a:t> </a:t>
            </a:r>
            <a:r>
              <a:rPr spc="-155" dirty="0"/>
              <a:t>Objetivos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1502" y="1959539"/>
            <a:ext cx="10760075" cy="7151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4" algn="ctr">
              <a:lnSpc>
                <a:spcPct val="100000"/>
              </a:lnSpc>
              <a:spcBef>
                <a:spcPts val="95"/>
              </a:spcBef>
            </a:pPr>
            <a:r>
              <a:rPr sz="3400" spc="60" dirty="0">
                <a:latin typeface="Verdana"/>
                <a:cs typeface="Verdana"/>
              </a:rPr>
              <a:t>Problema</a:t>
            </a:r>
            <a:r>
              <a:rPr sz="3400" spc="-25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identificado: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5700"/>
              </a:lnSpc>
              <a:spcBef>
                <a:spcPts val="3285"/>
              </a:spcBef>
            </a:pPr>
            <a:r>
              <a:rPr sz="2700" dirty="0">
                <a:latin typeface="Verdana"/>
                <a:cs typeface="Verdana"/>
              </a:rPr>
              <a:t>Entre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principales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problemas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se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destaca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falta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30" dirty="0">
                <a:latin typeface="Verdana"/>
                <a:cs typeface="Verdana"/>
              </a:rPr>
              <a:t>de </a:t>
            </a:r>
            <a:r>
              <a:rPr sz="2700" dirty="0">
                <a:latin typeface="Verdana"/>
                <a:cs typeface="Verdana"/>
              </a:rPr>
              <a:t>motivación</a:t>
            </a:r>
            <a:r>
              <a:rPr sz="2700" spc="-11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estudiantil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provocada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por</a:t>
            </a:r>
            <a:r>
              <a:rPr sz="2700" spc="-11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enseñanza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tradicional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escasez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herramientas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accesibles,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ya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que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mayoría requiere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pagos,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dispositivos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específicos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o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conexión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constante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a </a:t>
            </a:r>
            <a:r>
              <a:rPr sz="2700" spc="-45" dirty="0">
                <a:latin typeface="Verdana"/>
                <a:cs typeface="Verdana"/>
              </a:rPr>
              <a:t>internet.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Asimismo,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se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evidencia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ausencia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plataformas </a:t>
            </a:r>
            <a:r>
              <a:rPr sz="2700" spc="-30" dirty="0">
                <a:latin typeface="Verdana"/>
                <a:cs typeface="Verdana"/>
              </a:rPr>
              <a:t>interactivas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diseñadas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forma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específica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para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niños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25" dirty="0">
                <a:latin typeface="Verdana"/>
                <a:cs typeface="Verdana"/>
              </a:rPr>
              <a:t>que </a:t>
            </a:r>
            <a:r>
              <a:rPr sz="2700" dirty="0">
                <a:latin typeface="Verdana"/>
                <a:cs typeface="Verdana"/>
              </a:rPr>
              <a:t>integren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elementos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didácticos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95" dirty="0">
                <a:latin typeface="Verdana"/>
                <a:cs typeface="Verdana"/>
              </a:rPr>
              <a:t>como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juegos,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sonidos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e </a:t>
            </a:r>
            <a:r>
              <a:rPr sz="2700" spc="-45" dirty="0">
                <a:latin typeface="Verdana"/>
                <a:cs typeface="Verdana"/>
              </a:rPr>
              <a:t>imágenes.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125" dirty="0">
                <a:latin typeface="Verdana"/>
                <a:cs typeface="Verdana"/>
              </a:rPr>
              <a:t>A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nivel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institucional,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falta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monitoreo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35" dirty="0">
                <a:latin typeface="Verdana"/>
                <a:cs typeface="Verdana"/>
              </a:rPr>
              <a:t>técnico </a:t>
            </a:r>
            <a:r>
              <a:rPr sz="2700" spc="80" dirty="0">
                <a:latin typeface="Verdana"/>
                <a:cs typeface="Verdana"/>
              </a:rPr>
              <a:t>impide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35" dirty="0">
                <a:latin typeface="Verdana"/>
                <a:cs typeface="Verdana"/>
              </a:rPr>
              <a:t>generar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reportes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desempeño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brindar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25" dirty="0">
                <a:latin typeface="Verdana"/>
                <a:cs typeface="Verdana"/>
              </a:rPr>
              <a:t>un </a:t>
            </a:r>
            <a:r>
              <a:rPr sz="2700" dirty="0">
                <a:latin typeface="Verdana"/>
                <a:cs typeface="Verdana"/>
              </a:rPr>
              <a:t>seguimiento</a:t>
            </a:r>
            <a:r>
              <a:rPr sz="2700" spc="-13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personalizado,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excluyendo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ciertos</a:t>
            </a:r>
            <a:r>
              <a:rPr sz="2700" spc="-13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sectores.</a:t>
            </a:r>
            <a:endParaRPr sz="2700">
              <a:latin typeface="Verdana"/>
              <a:cs typeface="Verdana"/>
            </a:endParaRPr>
          </a:p>
          <a:p>
            <a:pPr marL="12700" marR="918210">
              <a:lnSpc>
                <a:spcPct val="115700"/>
              </a:lnSpc>
            </a:pPr>
            <a:r>
              <a:rPr sz="2700" spc="-10" dirty="0">
                <a:latin typeface="Verdana"/>
                <a:cs typeface="Verdana"/>
              </a:rPr>
              <a:t>Finalmente,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se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presenta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una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45" dirty="0">
                <a:latin typeface="Verdana"/>
                <a:cs typeface="Verdana"/>
              </a:rPr>
              <a:t>limitada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integración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30" dirty="0">
                <a:latin typeface="Verdana"/>
                <a:cs typeface="Verdana"/>
              </a:rPr>
              <a:t>de </a:t>
            </a:r>
            <a:r>
              <a:rPr sz="2700" dirty="0">
                <a:latin typeface="Verdana"/>
                <a:cs typeface="Verdana"/>
              </a:rPr>
              <a:t>tecnologías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emergentes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spc="95" dirty="0">
                <a:latin typeface="Verdana"/>
                <a:cs typeface="Verdana"/>
              </a:rPr>
              <a:t>como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inteligencia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artificial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la </a:t>
            </a:r>
            <a:r>
              <a:rPr sz="2700" dirty="0">
                <a:latin typeface="Verdana"/>
                <a:cs typeface="Verdana"/>
              </a:rPr>
              <a:t>analítica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datos.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7" y="0"/>
            <a:ext cx="18277112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0120" y="2711948"/>
            <a:ext cx="4868217" cy="485966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1.Problema</a:t>
            </a:r>
            <a:r>
              <a:rPr spc="-270" dirty="0"/>
              <a:t> </a:t>
            </a:r>
            <a:r>
              <a:rPr spc="-195" dirty="0"/>
              <a:t>y</a:t>
            </a:r>
            <a:r>
              <a:rPr spc="-265" dirty="0"/>
              <a:t> </a:t>
            </a:r>
            <a:r>
              <a:rPr spc="-155" dirty="0"/>
              <a:t>Objetivos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2571" y="1829914"/>
            <a:ext cx="10948670" cy="599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9875">
              <a:lnSpc>
                <a:spcPct val="100000"/>
              </a:lnSpc>
              <a:spcBef>
                <a:spcPts val="95"/>
              </a:spcBef>
            </a:pPr>
            <a:r>
              <a:rPr sz="3400" spc="-30" dirty="0">
                <a:latin typeface="Verdana"/>
                <a:cs typeface="Verdana"/>
              </a:rPr>
              <a:t>Objetivo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General:</a:t>
            </a:r>
            <a:endParaRPr sz="3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5700"/>
              </a:lnSpc>
            </a:pPr>
            <a:r>
              <a:rPr sz="2700" spc="-40" dirty="0">
                <a:latin typeface="Verdana"/>
                <a:cs typeface="Verdana"/>
              </a:rPr>
              <a:t>Desarrollar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40" dirty="0">
                <a:latin typeface="Verdana"/>
                <a:cs typeface="Verdana"/>
              </a:rPr>
              <a:t>e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implementar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un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sistema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educativo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digital </a:t>
            </a:r>
            <a:r>
              <a:rPr sz="2700" spc="65" dirty="0">
                <a:latin typeface="Verdana"/>
                <a:cs typeface="Verdana"/>
              </a:rPr>
              <a:t>denominado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40" dirty="0">
                <a:latin typeface="Verdana"/>
                <a:cs typeface="Verdana"/>
              </a:rPr>
              <a:t>PlayKids,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orientado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al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aprendizaje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idiomas </a:t>
            </a:r>
            <a:r>
              <a:rPr sz="2700" dirty="0">
                <a:latin typeface="Verdana"/>
                <a:cs typeface="Verdana"/>
              </a:rPr>
              <a:t>mediante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uso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herramientas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tecnológicas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innovadoras,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25" dirty="0">
                <a:latin typeface="Verdana"/>
                <a:cs typeface="Verdana"/>
              </a:rPr>
              <a:t>que </a:t>
            </a:r>
            <a:r>
              <a:rPr sz="2700" dirty="0">
                <a:latin typeface="Verdana"/>
                <a:cs typeface="Verdana"/>
              </a:rPr>
              <a:t>integren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metodologías</a:t>
            </a:r>
            <a:r>
              <a:rPr sz="2700" spc="-13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interactivas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spc="95" dirty="0">
                <a:latin typeface="Verdana"/>
                <a:cs typeface="Verdana"/>
              </a:rPr>
              <a:t>como</a:t>
            </a:r>
            <a:r>
              <a:rPr sz="2700" spc="-1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3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gamificación,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13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uso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recursos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multimedia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actividades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dinámicas,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70" dirty="0">
                <a:latin typeface="Verdana"/>
                <a:cs typeface="Verdana"/>
              </a:rPr>
              <a:t>con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fin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30" dirty="0">
                <a:latin typeface="Verdana"/>
                <a:cs typeface="Verdana"/>
              </a:rPr>
              <a:t>de </a:t>
            </a:r>
            <a:r>
              <a:rPr sz="2700" spc="-35" dirty="0">
                <a:latin typeface="Verdana"/>
                <a:cs typeface="Verdana"/>
              </a:rPr>
              <a:t>mejorar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calidad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proceso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40" dirty="0">
                <a:latin typeface="Verdana"/>
                <a:cs typeface="Verdana"/>
              </a:rPr>
              <a:t>enseñanza-</a:t>
            </a:r>
            <a:r>
              <a:rPr sz="2700" spc="-10" dirty="0">
                <a:latin typeface="Verdana"/>
                <a:cs typeface="Verdana"/>
              </a:rPr>
              <a:t>aprendizaje, </a:t>
            </a:r>
            <a:r>
              <a:rPr sz="2700" dirty="0">
                <a:latin typeface="Verdana"/>
                <a:cs typeface="Verdana"/>
              </a:rPr>
              <a:t>fomentar</a:t>
            </a:r>
            <a:r>
              <a:rPr sz="2700" spc="-8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motivación</a:t>
            </a:r>
            <a:r>
              <a:rPr sz="2700" spc="-8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participación</a:t>
            </a:r>
            <a:r>
              <a:rPr sz="2700" spc="-8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activa</a:t>
            </a:r>
            <a:r>
              <a:rPr sz="2700" spc="-8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8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los</a:t>
            </a:r>
            <a:r>
              <a:rPr sz="2700" spc="67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estudiantes,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garantizar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un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acceso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inclusivo,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accesible</a:t>
            </a:r>
            <a:r>
              <a:rPr sz="2700" spc="-17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y </a:t>
            </a:r>
            <a:r>
              <a:rPr sz="2700" dirty="0">
                <a:latin typeface="Verdana"/>
                <a:cs typeface="Verdana"/>
              </a:rPr>
              <a:t>adaptable</a:t>
            </a:r>
            <a:r>
              <a:rPr sz="2700" spc="-100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0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diferentes</a:t>
            </a:r>
            <a:r>
              <a:rPr sz="2700" spc="-10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contextos</a:t>
            </a:r>
            <a:r>
              <a:rPr sz="2700" spc="-9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educativos,</a:t>
            </a:r>
            <a:r>
              <a:rPr sz="2700" spc="-10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especialmente</a:t>
            </a:r>
            <a:r>
              <a:rPr sz="2700" spc="-10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en </a:t>
            </a:r>
            <a:r>
              <a:rPr sz="2700" dirty="0">
                <a:latin typeface="Verdana"/>
                <a:cs typeface="Verdana"/>
              </a:rPr>
              <a:t>entornos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70" dirty="0">
                <a:latin typeface="Verdana"/>
                <a:cs typeface="Verdana"/>
              </a:rPr>
              <a:t>con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limitaciones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tecnológicas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económicas.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7" y="38100"/>
            <a:ext cx="18277112" cy="102488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5075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1.Problema</a:t>
            </a:r>
            <a:r>
              <a:rPr spc="-270" dirty="0"/>
              <a:t> </a:t>
            </a:r>
            <a:r>
              <a:rPr spc="-195" dirty="0"/>
              <a:t>y</a:t>
            </a:r>
            <a:r>
              <a:rPr spc="-265" dirty="0"/>
              <a:t> </a:t>
            </a:r>
            <a:r>
              <a:rPr spc="-160" dirty="0"/>
              <a:t>Objetivos.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4111" y="1409319"/>
            <a:ext cx="14563090" cy="6210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5185">
              <a:lnSpc>
                <a:spcPct val="100000"/>
              </a:lnSpc>
              <a:spcBef>
                <a:spcPts val="95"/>
              </a:spcBef>
            </a:pPr>
            <a:r>
              <a:rPr sz="3400" spc="-50" dirty="0">
                <a:latin typeface="Verdana"/>
                <a:cs typeface="Verdana"/>
              </a:rPr>
              <a:t>Objetivos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Específicos:</a:t>
            </a:r>
            <a:endParaRPr sz="3400">
              <a:latin typeface="Verdana"/>
              <a:cs typeface="Verdana"/>
            </a:endParaRPr>
          </a:p>
          <a:p>
            <a:pPr marL="12700" marR="948690" indent="369570">
              <a:lnSpc>
                <a:spcPct val="115700"/>
              </a:lnSpc>
              <a:spcBef>
                <a:spcPts val="3379"/>
              </a:spcBef>
              <a:buChar char="•"/>
              <a:tabLst>
                <a:tab pos="382270" algn="l"/>
              </a:tabLst>
            </a:pPr>
            <a:r>
              <a:rPr sz="2700" spc="-40" dirty="0">
                <a:latin typeface="Verdana"/>
                <a:cs typeface="Verdana"/>
              </a:rPr>
              <a:t>Diseñar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una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plataforma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educativa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digital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que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permita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usuarios</a:t>
            </a:r>
            <a:r>
              <a:rPr sz="2700" spc="-13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aprender </a:t>
            </a:r>
            <a:r>
              <a:rPr sz="2700" dirty="0">
                <a:latin typeface="Verdana"/>
                <a:cs typeface="Verdana"/>
              </a:rPr>
              <a:t>idiomas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85" dirty="0">
                <a:latin typeface="Verdana"/>
                <a:cs typeface="Verdana"/>
              </a:rPr>
              <a:t>través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actividades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interactivas,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95" dirty="0">
                <a:latin typeface="Verdana"/>
                <a:cs typeface="Verdana"/>
              </a:rPr>
              <a:t>como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juegos,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ejercicios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visuales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y </a:t>
            </a:r>
            <a:r>
              <a:rPr sz="2700" spc="-55" dirty="0">
                <a:latin typeface="Verdana"/>
                <a:cs typeface="Verdana"/>
              </a:rPr>
              <a:t>auditivos,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adaptados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las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necesidades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niños.</a:t>
            </a:r>
            <a:endParaRPr sz="2700">
              <a:latin typeface="Verdana"/>
              <a:cs typeface="Verdana"/>
            </a:endParaRPr>
          </a:p>
          <a:p>
            <a:pPr marL="12700" marR="53975" indent="369570">
              <a:lnSpc>
                <a:spcPct val="115700"/>
              </a:lnSpc>
              <a:buChar char="•"/>
              <a:tabLst>
                <a:tab pos="382270" algn="l"/>
              </a:tabLst>
            </a:pPr>
            <a:r>
              <a:rPr sz="2700" dirty="0">
                <a:latin typeface="Verdana"/>
                <a:cs typeface="Verdana"/>
              </a:rPr>
              <a:t>Implementar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un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sistema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gamificación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que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motive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estudiantes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mediante </a:t>
            </a:r>
            <a:r>
              <a:rPr sz="2700" spc="-40" dirty="0">
                <a:latin typeface="Verdana"/>
                <a:cs typeface="Verdana"/>
              </a:rPr>
              <a:t>recompensas,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90" dirty="0">
                <a:latin typeface="Verdana"/>
                <a:cs typeface="Verdana"/>
              </a:rPr>
              <a:t>niveles,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logros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seguimiento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progreso,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70" dirty="0">
                <a:latin typeface="Verdana"/>
                <a:cs typeface="Verdana"/>
              </a:rPr>
              <a:t>con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propósito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hacer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el </a:t>
            </a:r>
            <a:r>
              <a:rPr sz="2700" spc="-10" dirty="0">
                <a:latin typeface="Verdana"/>
                <a:cs typeface="Verdana"/>
              </a:rPr>
              <a:t>aprendizaje</a:t>
            </a:r>
            <a:r>
              <a:rPr sz="2700" spc="-18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más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atractivo</a:t>
            </a:r>
            <a:r>
              <a:rPr sz="2700" spc="-185" dirty="0">
                <a:latin typeface="Verdana"/>
                <a:cs typeface="Verdana"/>
              </a:rPr>
              <a:t> y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efectivo.</a:t>
            </a:r>
            <a:endParaRPr sz="2700">
              <a:latin typeface="Verdana"/>
              <a:cs typeface="Verdana"/>
            </a:endParaRPr>
          </a:p>
          <a:p>
            <a:pPr marL="12700" marR="5080" indent="369570">
              <a:lnSpc>
                <a:spcPct val="115700"/>
              </a:lnSpc>
              <a:buChar char="•"/>
              <a:tabLst>
                <a:tab pos="382270" algn="l"/>
              </a:tabLst>
            </a:pPr>
            <a:r>
              <a:rPr sz="2700" spc="-40" dirty="0">
                <a:latin typeface="Verdana"/>
                <a:cs typeface="Verdana"/>
              </a:rPr>
              <a:t>Desarrollar</a:t>
            </a:r>
            <a:r>
              <a:rPr sz="2700" spc="-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funcionalidades</a:t>
            </a:r>
            <a:r>
              <a:rPr sz="2700" spc="-45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que</a:t>
            </a:r>
            <a:r>
              <a:rPr sz="2700" spc="-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permitan</a:t>
            </a:r>
            <a:r>
              <a:rPr sz="2700" spc="-4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45" dirty="0">
                <a:latin typeface="Verdana"/>
                <a:cs typeface="Verdana"/>
              </a:rPr>
              <a:t> </a:t>
            </a:r>
            <a:r>
              <a:rPr sz="2700" spc="-80" dirty="0">
                <a:latin typeface="Verdana"/>
                <a:cs typeface="Verdana"/>
              </a:rPr>
              <a:t>registro,</a:t>
            </a:r>
            <a:r>
              <a:rPr sz="2700" spc="-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almacenamiento</a:t>
            </a:r>
            <a:r>
              <a:rPr sz="2700" spc="-4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4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monitoreo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progreso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85" dirty="0">
                <a:latin typeface="Verdana"/>
                <a:cs typeface="Verdana"/>
              </a:rPr>
              <a:t>usuarios,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facilitando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evaluación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continua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su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desempeño.</a:t>
            </a:r>
            <a:endParaRPr sz="2700">
              <a:latin typeface="Verdana"/>
              <a:cs typeface="Verdana"/>
            </a:endParaRPr>
          </a:p>
          <a:p>
            <a:pPr marL="12700" marR="94615" indent="369570">
              <a:lnSpc>
                <a:spcPct val="115700"/>
              </a:lnSpc>
              <a:spcBef>
                <a:spcPts val="5"/>
              </a:spcBef>
              <a:buChar char="•"/>
              <a:tabLst>
                <a:tab pos="382270" algn="l"/>
              </a:tabLst>
            </a:pPr>
            <a:r>
              <a:rPr sz="2700" spc="-60" dirty="0">
                <a:latin typeface="Verdana"/>
                <a:cs typeface="Verdana"/>
              </a:rPr>
              <a:t>Crear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un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sistema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generación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reportes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que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permita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55" dirty="0">
                <a:latin typeface="Verdana"/>
                <a:cs typeface="Verdana"/>
              </a:rPr>
              <a:t>a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docentes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y </a:t>
            </a:r>
            <a:r>
              <a:rPr sz="2700" dirty="0">
                <a:latin typeface="Verdana"/>
                <a:cs typeface="Verdana"/>
              </a:rPr>
              <a:t>administradores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analizar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avance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estudiantes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tomar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decisiones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informadas </a:t>
            </a:r>
            <a:r>
              <a:rPr sz="2700" dirty="0">
                <a:latin typeface="Verdana"/>
                <a:cs typeface="Verdana"/>
              </a:rPr>
              <a:t>en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60" dirty="0">
                <a:latin typeface="Verdana"/>
                <a:cs typeface="Verdana"/>
              </a:rPr>
              <a:t>ámbito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educativo.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0930">
              <a:lnSpc>
                <a:spcPct val="100000"/>
              </a:lnSpc>
              <a:spcBef>
                <a:spcPts val="95"/>
              </a:spcBef>
            </a:pPr>
            <a:r>
              <a:rPr spc="-305" dirty="0"/>
              <a:t>2.Proceso</a:t>
            </a:r>
            <a:r>
              <a:rPr spc="-265" dirty="0"/>
              <a:t> </a:t>
            </a:r>
            <a:r>
              <a:rPr spc="-150" dirty="0"/>
              <a:t>Automatizado.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5964" y="988809"/>
            <a:ext cx="6577965" cy="143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95"/>
              </a:spcBef>
            </a:pPr>
            <a:r>
              <a:rPr sz="3400" spc="75" dirty="0">
                <a:latin typeface="Verdana"/>
                <a:cs typeface="Verdana"/>
              </a:rPr>
              <a:t>Modelación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Procesos.</a:t>
            </a:r>
            <a:endParaRPr sz="3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3400" spc="-10" dirty="0">
                <a:latin typeface="Verdana"/>
                <a:cs typeface="Verdana"/>
              </a:rPr>
              <a:t>Diagrama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60" dirty="0">
                <a:latin typeface="Verdana"/>
                <a:cs typeface="Verdana"/>
              </a:rPr>
              <a:t>BPMN/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Bizagi: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306" y="2857500"/>
            <a:ext cx="14140058" cy="66124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38"/>
            <a:ext cx="18144172" cy="102815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01510" y="2837700"/>
            <a:ext cx="8111490" cy="526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spc="-30" dirty="0">
                <a:latin typeface="Verdana"/>
                <a:cs typeface="Verdana"/>
              </a:rPr>
              <a:t>Este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diagrama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representa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proceso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actual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spc="30" dirty="0">
                <a:latin typeface="Verdana"/>
                <a:cs typeface="Verdana"/>
              </a:rPr>
              <a:t>de </a:t>
            </a:r>
            <a:r>
              <a:rPr sz="2700" spc="-10" dirty="0">
                <a:latin typeface="Verdana"/>
                <a:cs typeface="Verdana"/>
              </a:rPr>
              <a:t>enseñanza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tradicional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inglés.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El</a:t>
            </a:r>
            <a:r>
              <a:rPr sz="2700" spc="-150" dirty="0">
                <a:latin typeface="Verdana"/>
                <a:cs typeface="Verdana"/>
              </a:rPr>
              <a:t> </a:t>
            </a:r>
            <a:r>
              <a:rPr sz="2700" spc="35" dirty="0">
                <a:latin typeface="Verdana"/>
                <a:cs typeface="Verdana"/>
              </a:rPr>
              <a:t>docente </a:t>
            </a:r>
            <a:r>
              <a:rPr sz="2700" dirty="0">
                <a:latin typeface="Verdana"/>
                <a:cs typeface="Verdana"/>
              </a:rPr>
              <a:t>planifica</a:t>
            </a:r>
            <a:r>
              <a:rPr sz="2700" spc="-11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desarrolla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clase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utilizando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libros</a:t>
            </a:r>
            <a:r>
              <a:rPr sz="2700" spc="-10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y </a:t>
            </a:r>
            <a:r>
              <a:rPr sz="2700" spc="-30" dirty="0">
                <a:latin typeface="Verdana"/>
                <a:cs typeface="Verdana"/>
              </a:rPr>
              <a:t>guías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85" dirty="0">
                <a:latin typeface="Verdana"/>
                <a:cs typeface="Verdana"/>
              </a:rPr>
              <a:t>físicas,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mientras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que</a:t>
            </a:r>
            <a:r>
              <a:rPr sz="2700" spc="-19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estudiantes </a:t>
            </a:r>
            <a:r>
              <a:rPr sz="2700" dirty="0">
                <a:latin typeface="Verdana"/>
                <a:cs typeface="Verdana"/>
              </a:rPr>
              <a:t>participan</a:t>
            </a:r>
            <a:r>
              <a:rPr sz="2700" spc="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mediante</a:t>
            </a:r>
            <a:r>
              <a:rPr sz="2700" spc="1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repetición</a:t>
            </a:r>
            <a:r>
              <a:rPr sz="2700" spc="1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1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ejercicios </a:t>
            </a:r>
            <a:r>
              <a:rPr sz="2700" spc="-75" dirty="0">
                <a:latin typeface="Verdana"/>
                <a:cs typeface="Verdana"/>
              </a:rPr>
              <a:t>escritos.</a:t>
            </a:r>
            <a:r>
              <a:rPr sz="2700" spc="-210" dirty="0">
                <a:latin typeface="Verdana"/>
                <a:cs typeface="Verdana"/>
              </a:rPr>
              <a:t> </a:t>
            </a:r>
            <a:r>
              <a:rPr sz="2700" spc="-90" dirty="0">
                <a:latin typeface="Verdana"/>
                <a:cs typeface="Verdana"/>
              </a:rPr>
              <a:t>Las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actividades</a:t>
            </a:r>
            <a:r>
              <a:rPr sz="2700" spc="-21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son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revisadas </a:t>
            </a:r>
            <a:r>
              <a:rPr sz="2700" dirty="0">
                <a:latin typeface="Verdana"/>
                <a:cs typeface="Verdana"/>
              </a:rPr>
              <a:t>manualmente</a:t>
            </a:r>
            <a:r>
              <a:rPr sz="2700" spc="-6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retroalimentación</a:t>
            </a:r>
            <a:r>
              <a:rPr sz="2700" spc="-60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se</a:t>
            </a:r>
            <a:r>
              <a:rPr sz="2700" spc="-6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brinda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forma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general.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Finalmente,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se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aplican </a:t>
            </a:r>
            <a:r>
              <a:rPr sz="2700" spc="-20" dirty="0">
                <a:latin typeface="Verdana"/>
                <a:cs typeface="Verdana"/>
              </a:rPr>
              <a:t>evaluaciones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tradicionales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resultados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se </a:t>
            </a:r>
            <a:r>
              <a:rPr sz="2700" spc="-35" dirty="0">
                <a:latin typeface="Verdana"/>
                <a:cs typeface="Verdana"/>
              </a:rPr>
              <a:t>registran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manera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65" dirty="0">
                <a:latin typeface="Verdana"/>
                <a:cs typeface="Verdana"/>
              </a:rPr>
              <a:t>básica,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sin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50" dirty="0">
                <a:latin typeface="Verdana"/>
                <a:cs typeface="Verdana"/>
              </a:rPr>
              <a:t>un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seguimiento </a:t>
            </a:r>
            <a:r>
              <a:rPr sz="2700" dirty="0">
                <a:latin typeface="Verdana"/>
                <a:cs typeface="Verdana"/>
              </a:rPr>
              <a:t>personalizado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progreso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4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cada</a:t>
            </a:r>
            <a:r>
              <a:rPr sz="2700" spc="-14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estudiante.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1361" y="289860"/>
            <a:ext cx="6078855" cy="124269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pc="-305" dirty="0"/>
              <a:t>2.Proceso</a:t>
            </a:r>
            <a:r>
              <a:rPr spc="-265" dirty="0"/>
              <a:t> </a:t>
            </a:r>
            <a:r>
              <a:rPr spc="-80" dirty="0"/>
              <a:t>Automatizado</a:t>
            </a:r>
          </a:p>
          <a:p>
            <a:pPr marL="843280" algn="ctr">
              <a:lnSpc>
                <a:spcPct val="100000"/>
              </a:lnSpc>
              <a:spcBef>
                <a:spcPts val="445"/>
              </a:spcBef>
            </a:pPr>
            <a:r>
              <a:rPr sz="3400" spc="75" dirty="0">
                <a:latin typeface="Verdana"/>
                <a:cs typeface="Verdana"/>
              </a:rPr>
              <a:t>Modelación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Procesos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63" y="2939935"/>
            <a:ext cx="9147485" cy="68076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08584" y="2310154"/>
            <a:ext cx="33362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latin typeface="Verdana"/>
                <a:cs typeface="Verdana"/>
              </a:rPr>
              <a:t>Proceso</a:t>
            </a:r>
            <a:r>
              <a:rPr sz="3400" spc="-155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Actual: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5325" y="510670"/>
            <a:ext cx="599186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2.</a:t>
            </a:r>
            <a:r>
              <a:rPr spc="-270" dirty="0"/>
              <a:t> </a:t>
            </a:r>
            <a:r>
              <a:rPr spc="-310" dirty="0"/>
              <a:t>Proceso</a:t>
            </a:r>
            <a:r>
              <a:rPr spc="-270" dirty="0"/>
              <a:t> </a:t>
            </a:r>
            <a:r>
              <a:rPr spc="-145" dirty="0"/>
              <a:t>Automatizado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074887"/>
            <a:ext cx="9441180" cy="8176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2630">
              <a:lnSpc>
                <a:spcPct val="100000"/>
              </a:lnSpc>
              <a:spcBef>
                <a:spcPts val="95"/>
              </a:spcBef>
            </a:pPr>
            <a:r>
              <a:rPr sz="3400" spc="75" dirty="0">
                <a:latin typeface="Verdana"/>
                <a:cs typeface="Verdana"/>
              </a:rPr>
              <a:t>Modelación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Procesos</a:t>
            </a:r>
            <a:endParaRPr sz="3400">
              <a:latin typeface="Verdana"/>
              <a:cs typeface="Verdana"/>
            </a:endParaRPr>
          </a:p>
          <a:p>
            <a:pPr marL="43815">
              <a:lnSpc>
                <a:spcPct val="100000"/>
              </a:lnSpc>
              <a:spcBef>
                <a:spcPts val="2665"/>
              </a:spcBef>
            </a:pPr>
            <a:r>
              <a:rPr sz="3400" dirty="0">
                <a:latin typeface="Verdana"/>
                <a:cs typeface="Verdana"/>
              </a:rPr>
              <a:t>Beneficios</a:t>
            </a:r>
            <a:r>
              <a:rPr sz="3400" spc="-19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Obtenidos: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7100"/>
              </a:lnSpc>
              <a:spcBef>
                <a:spcPts val="2200"/>
              </a:spcBef>
            </a:pPr>
            <a:r>
              <a:rPr sz="2600" spc="-50" dirty="0">
                <a:latin typeface="Verdana"/>
                <a:cs typeface="Verdana"/>
              </a:rPr>
              <a:t>La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automatización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enseñanza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55" dirty="0">
                <a:latin typeface="Verdana"/>
                <a:cs typeface="Verdana"/>
              </a:rPr>
              <a:t>mediante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Sistema </a:t>
            </a:r>
            <a:r>
              <a:rPr sz="2600" dirty="0">
                <a:latin typeface="Verdana"/>
                <a:cs typeface="Verdana"/>
              </a:rPr>
              <a:t>PlayKids</a:t>
            </a:r>
            <a:r>
              <a:rPr sz="2600" spc="-5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ofrece</a:t>
            </a:r>
            <a:r>
              <a:rPr sz="2600" spc="-5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beneficios</a:t>
            </a:r>
            <a:r>
              <a:rPr sz="2600" spc="-5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sustanciales</a:t>
            </a:r>
            <a:r>
              <a:rPr sz="2600" spc="-5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al</a:t>
            </a:r>
            <a:r>
              <a:rPr sz="2600" spc="-5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sustituir </a:t>
            </a:r>
            <a:r>
              <a:rPr sz="2600" spc="45" dirty="0">
                <a:latin typeface="Verdana"/>
                <a:cs typeface="Verdana"/>
              </a:rPr>
              <a:t>metodologías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tradicionales</a:t>
            </a:r>
            <a:r>
              <a:rPr sz="2600" spc="-6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por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un</a:t>
            </a:r>
            <a:r>
              <a:rPr sz="2600" spc="-6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entorno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spc="35" dirty="0">
                <a:latin typeface="Verdana"/>
                <a:cs typeface="Verdana"/>
              </a:rPr>
              <a:t>digital </a:t>
            </a:r>
            <a:r>
              <a:rPr sz="2600" spc="-30" dirty="0">
                <a:latin typeface="Verdana"/>
                <a:cs typeface="Verdana"/>
              </a:rPr>
              <a:t>interactivo.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Esta</a:t>
            </a:r>
            <a:r>
              <a:rPr sz="2600" spc="-10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sistematización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50" dirty="0">
                <a:latin typeface="Verdana"/>
                <a:cs typeface="Verdana"/>
              </a:rPr>
              <a:t>elimina</a:t>
            </a:r>
            <a:r>
              <a:rPr sz="2600" spc="-10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revisión </a:t>
            </a:r>
            <a:r>
              <a:rPr sz="2600" spc="55" dirty="0">
                <a:latin typeface="Verdana"/>
                <a:cs typeface="Verdana"/>
              </a:rPr>
              <a:t>manual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al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introducir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evaluación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automatizada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spc="-160" dirty="0">
                <a:latin typeface="Verdana"/>
                <a:cs typeface="Verdana"/>
              </a:rPr>
              <a:t>y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el </a:t>
            </a:r>
            <a:r>
              <a:rPr sz="2600" spc="-20" dirty="0">
                <a:latin typeface="Verdana"/>
                <a:cs typeface="Verdana"/>
              </a:rPr>
              <a:t>registro</a:t>
            </a:r>
            <a:r>
              <a:rPr sz="2600" spc="-120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continuo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del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progreso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estudiantil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tiempo </a:t>
            </a:r>
            <a:r>
              <a:rPr sz="2600" spc="-90" dirty="0">
                <a:latin typeface="Verdana"/>
                <a:cs typeface="Verdana"/>
              </a:rPr>
              <a:t>real.</a:t>
            </a:r>
            <a:r>
              <a:rPr sz="2600" spc="-12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Además,</a:t>
            </a:r>
            <a:r>
              <a:rPr sz="2600" spc="-1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facilita</a:t>
            </a:r>
            <a:r>
              <a:rPr sz="2600" spc="-12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un</a:t>
            </a:r>
            <a:r>
              <a:rPr sz="2600" spc="-1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recorrido</a:t>
            </a:r>
            <a:r>
              <a:rPr sz="2600" spc="-120" dirty="0">
                <a:latin typeface="Verdana"/>
                <a:cs typeface="Verdana"/>
              </a:rPr>
              <a:t> </a:t>
            </a:r>
            <a:r>
              <a:rPr sz="2600" spc="75" dirty="0">
                <a:latin typeface="Verdana"/>
                <a:cs typeface="Verdana"/>
              </a:rPr>
              <a:t>didáctico</a:t>
            </a:r>
            <a:r>
              <a:rPr sz="2600" spc="-12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con </a:t>
            </a:r>
            <a:r>
              <a:rPr sz="2600" dirty="0">
                <a:latin typeface="Verdana"/>
                <a:cs typeface="Verdana"/>
              </a:rPr>
              <a:t>retroalimentación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50" dirty="0">
                <a:latin typeface="Verdana"/>
                <a:cs typeface="Verdana"/>
              </a:rPr>
              <a:t>inmediata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integra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elementos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de </a:t>
            </a:r>
            <a:r>
              <a:rPr sz="2600" spc="55" dirty="0">
                <a:latin typeface="Verdana"/>
                <a:cs typeface="Verdana"/>
              </a:rPr>
              <a:t>gamificación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para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incentivar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compromiso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del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alumno. </a:t>
            </a:r>
            <a:r>
              <a:rPr sz="2600" dirty="0">
                <a:latin typeface="Verdana"/>
                <a:cs typeface="Verdana"/>
              </a:rPr>
              <a:t>Consecuentemente,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al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centralizar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flujo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aprendizaje </a:t>
            </a:r>
            <a:r>
              <a:rPr sz="2600" dirty="0">
                <a:latin typeface="Verdana"/>
                <a:cs typeface="Verdana"/>
              </a:rPr>
              <a:t>en</a:t>
            </a:r>
            <a:r>
              <a:rPr sz="2600" spc="-9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90" dirty="0">
                <a:latin typeface="Verdana"/>
                <a:cs typeface="Verdana"/>
              </a:rPr>
              <a:t> </a:t>
            </a:r>
            <a:r>
              <a:rPr sz="2600" spc="-55" dirty="0">
                <a:latin typeface="Verdana"/>
                <a:cs typeface="Verdana"/>
              </a:rPr>
              <a:t>sistema,</a:t>
            </a:r>
            <a:r>
              <a:rPr sz="2600" spc="-85" dirty="0">
                <a:latin typeface="Verdana"/>
                <a:cs typeface="Verdana"/>
              </a:rPr>
              <a:t> </a:t>
            </a:r>
            <a:r>
              <a:rPr sz="2600" spc="-75" dirty="0">
                <a:latin typeface="Verdana"/>
                <a:cs typeface="Verdana"/>
              </a:rPr>
              <a:t>se</a:t>
            </a:r>
            <a:r>
              <a:rPr sz="2600" spc="-9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reduce</a:t>
            </a:r>
            <a:r>
              <a:rPr sz="2600" spc="-9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drásticamente</a:t>
            </a:r>
            <a:r>
              <a:rPr sz="2600" spc="-8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9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carga operativa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del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docente,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55" dirty="0">
                <a:latin typeface="Verdana"/>
                <a:cs typeface="Verdana"/>
              </a:rPr>
              <a:t>permitiéndole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enfocar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sus esfuerzos</a:t>
            </a:r>
            <a:r>
              <a:rPr sz="2600" spc="-7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directamente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7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evaluación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estratégica</a:t>
            </a:r>
            <a:r>
              <a:rPr sz="2600" spc="-65" dirty="0">
                <a:latin typeface="Verdana"/>
                <a:cs typeface="Verdana"/>
              </a:rPr>
              <a:t> </a:t>
            </a:r>
            <a:r>
              <a:rPr sz="2600" spc="40" dirty="0">
                <a:latin typeface="Verdana"/>
                <a:cs typeface="Verdana"/>
              </a:rPr>
              <a:t>del </a:t>
            </a:r>
            <a:r>
              <a:rPr sz="2600" spc="50" dirty="0">
                <a:latin typeface="Verdana"/>
                <a:cs typeface="Verdana"/>
              </a:rPr>
              <a:t>rendimiento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160" dirty="0">
                <a:latin typeface="Verdana"/>
                <a:cs typeface="Verdana"/>
              </a:rPr>
              <a:t>y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80" dirty="0">
                <a:latin typeface="Verdana"/>
                <a:cs typeface="Verdana"/>
              </a:rPr>
              <a:t>impacto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pedagógico.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229820" y="429431"/>
            <a:ext cx="601472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3.</a:t>
            </a:r>
            <a:r>
              <a:rPr spc="-275" dirty="0"/>
              <a:t> </a:t>
            </a:r>
            <a:r>
              <a:rPr spc="-185" dirty="0"/>
              <a:t>Ingeniería</a:t>
            </a:r>
            <a:r>
              <a:rPr spc="-270" dirty="0"/>
              <a:t> </a:t>
            </a:r>
            <a:r>
              <a:rPr spc="-240" dirty="0"/>
              <a:t>de</a:t>
            </a:r>
            <a:r>
              <a:rPr spc="-270" dirty="0"/>
              <a:t> </a:t>
            </a:r>
            <a:r>
              <a:rPr spc="-190" dirty="0"/>
              <a:t>Software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6856" y="1711604"/>
            <a:ext cx="6894830" cy="754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6630" marR="339090" indent="-1840864">
              <a:lnSpc>
                <a:spcPct val="115799"/>
              </a:lnSpc>
              <a:spcBef>
                <a:spcPts val="100"/>
              </a:spcBef>
            </a:pPr>
            <a:r>
              <a:rPr sz="3400" dirty="0">
                <a:latin typeface="Verdana"/>
                <a:cs typeface="Verdana"/>
              </a:rPr>
              <a:t>Requerimientos</a:t>
            </a:r>
            <a:r>
              <a:rPr sz="3400" spc="4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Funcionales Principales: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  <a:spcBef>
                <a:spcPts val="1870"/>
              </a:spcBef>
            </a:pPr>
            <a:r>
              <a:rPr sz="2300" spc="-40" dirty="0">
                <a:latin typeface="Verdana"/>
                <a:cs typeface="Verdana"/>
              </a:rPr>
              <a:t>Estos</a:t>
            </a:r>
            <a:r>
              <a:rPr sz="2300" spc="-15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requerimientos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son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indispensables </a:t>
            </a:r>
            <a:r>
              <a:rPr sz="2300" dirty="0">
                <a:latin typeface="Verdana"/>
                <a:cs typeface="Verdana"/>
              </a:rPr>
              <a:t>porque</a:t>
            </a:r>
            <a:r>
              <a:rPr sz="2300" spc="-7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automatizan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la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enseñanza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tradicional </a:t>
            </a:r>
            <a:r>
              <a:rPr sz="2300" dirty="0">
                <a:latin typeface="Verdana"/>
                <a:cs typeface="Verdana"/>
              </a:rPr>
              <a:t>en</a:t>
            </a:r>
            <a:r>
              <a:rPr sz="2300" spc="-105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un</a:t>
            </a:r>
            <a:r>
              <a:rPr sz="2300" spc="-10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sistema</a:t>
            </a:r>
            <a:r>
              <a:rPr sz="2300" spc="-10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interactivo</a:t>
            </a:r>
            <a:r>
              <a:rPr sz="2300" spc="-100" dirty="0">
                <a:latin typeface="Verdana"/>
                <a:cs typeface="Verdana"/>
              </a:rPr>
              <a:t> </a:t>
            </a:r>
            <a:r>
              <a:rPr sz="2300" spc="-155" dirty="0">
                <a:latin typeface="Verdana"/>
                <a:cs typeface="Verdana"/>
              </a:rPr>
              <a:t>y</a:t>
            </a:r>
            <a:r>
              <a:rPr sz="2300" spc="-10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gamificado</a:t>
            </a:r>
            <a:r>
              <a:rPr sz="2300" spc="-10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en </a:t>
            </a:r>
            <a:r>
              <a:rPr sz="2300" spc="50" dirty="0">
                <a:latin typeface="Verdana"/>
                <a:cs typeface="Verdana"/>
              </a:rPr>
              <a:t>tiempo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95" dirty="0">
                <a:latin typeface="Verdana"/>
                <a:cs typeface="Verdana"/>
              </a:rPr>
              <a:t>real.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Para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spc="-50" dirty="0">
                <a:latin typeface="Verdana"/>
                <a:cs typeface="Verdana"/>
              </a:rPr>
              <a:t>lograrlo,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PlayKids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inicia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spc="60" dirty="0">
                <a:latin typeface="Verdana"/>
                <a:cs typeface="Verdana"/>
              </a:rPr>
              <a:t>con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el </a:t>
            </a:r>
            <a:r>
              <a:rPr sz="2300" spc="-20" dirty="0">
                <a:latin typeface="Verdana"/>
                <a:cs typeface="Verdana"/>
              </a:rPr>
              <a:t>Registro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usuario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e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Inicio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sesión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para </a:t>
            </a:r>
            <a:r>
              <a:rPr sz="2300" spc="-50" dirty="0">
                <a:latin typeface="Verdana"/>
                <a:cs typeface="Verdana"/>
              </a:rPr>
              <a:t>asegurar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el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perfil</a:t>
            </a:r>
            <a:r>
              <a:rPr sz="2300" spc="-12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del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30" dirty="0">
                <a:latin typeface="Verdana"/>
                <a:cs typeface="Verdana"/>
              </a:rPr>
              <a:t>estudiante.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60" dirty="0">
                <a:latin typeface="Verdana"/>
                <a:cs typeface="Verdana"/>
              </a:rPr>
              <a:t>Luego,</a:t>
            </a:r>
            <a:r>
              <a:rPr sz="2300" spc="-12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ofrece </a:t>
            </a:r>
            <a:r>
              <a:rPr sz="2300" dirty="0">
                <a:latin typeface="Verdana"/>
                <a:cs typeface="Verdana"/>
              </a:rPr>
              <a:t>la</a:t>
            </a:r>
            <a:r>
              <a:rPr sz="2300" spc="-11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Visualización</a:t>
            </a:r>
            <a:r>
              <a:rPr sz="2300" spc="-10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</a:t>
            </a:r>
            <a:r>
              <a:rPr sz="2300" spc="-10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lecciones</a:t>
            </a:r>
            <a:r>
              <a:rPr sz="2300" spc="-105" dirty="0">
                <a:latin typeface="Verdana"/>
                <a:cs typeface="Verdana"/>
              </a:rPr>
              <a:t> </a:t>
            </a:r>
            <a:r>
              <a:rPr sz="2300" spc="50" dirty="0">
                <a:latin typeface="Verdana"/>
                <a:cs typeface="Verdana"/>
              </a:rPr>
              <a:t>multimedia</a:t>
            </a:r>
            <a:r>
              <a:rPr sz="2300" spc="-10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por </a:t>
            </a:r>
            <a:r>
              <a:rPr sz="2300" spc="-35" dirty="0">
                <a:latin typeface="Verdana"/>
                <a:cs typeface="Verdana"/>
              </a:rPr>
              <a:t>niveles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155" dirty="0">
                <a:latin typeface="Verdana"/>
                <a:cs typeface="Verdana"/>
              </a:rPr>
              <a:t>y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ejecuta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Actividades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interactivas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35" dirty="0">
                <a:latin typeface="Verdana"/>
                <a:cs typeface="Verdana"/>
              </a:rPr>
              <a:t>con </a:t>
            </a:r>
            <a:r>
              <a:rPr sz="2300" dirty="0">
                <a:latin typeface="Verdana"/>
                <a:cs typeface="Verdana"/>
              </a:rPr>
              <a:t>evaluación</a:t>
            </a:r>
            <a:r>
              <a:rPr sz="2300" spc="-55" dirty="0">
                <a:latin typeface="Verdana"/>
                <a:cs typeface="Verdana"/>
              </a:rPr>
              <a:t> </a:t>
            </a:r>
            <a:r>
              <a:rPr sz="2300" spc="-155" dirty="0">
                <a:latin typeface="Verdana"/>
                <a:cs typeface="Verdana"/>
              </a:rPr>
              <a:t>y</a:t>
            </a:r>
            <a:r>
              <a:rPr sz="2300" spc="-5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retroalimentación</a:t>
            </a:r>
            <a:r>
              <a:rPr sz="2300" spc="-5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automática</a:t>
            </a:r>
            <a:r>
              <a:rPr sz="2300" spc="-55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de aciertos</a:t>
            </a:r>
            <a:r>
              <a:rPr sz="2300" spc="-1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o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spc="-100" dirty="0">
                <a:latin typeface="Verdana"/>
                <a:cs typeface="Verdana"/>
              </a:rPr>
              <a:t>errores.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spc="55" dirty="0">
                <a:latin typeface="Verdana"/>
                <a:cs typeface="Verdana"/>
              </a:rPr>
              <a:t>En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el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cierre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pedagógico,</a:t>
            </a:r>
            <a:r>
              <a:rPr sz="2300" spc="-16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el </a:t>
            </a:r>
            <a:r>
              <a:rPr sz="2300" spc="-20" dirty="0">
                <a:latin typeface="Verdana"/>
                <a:cs typeface="Verdana"/>
              </a:rPr>
              <a:t>software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spc="-80" dirty="0">
                <a:latin typeface="Verdana"/>
                <a:cs typeface="Verdana"/>
              </a:rPr>
              <a:t>se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encarga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Medir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spc="-155" dirty="0">
                <a:latin typeface="Verdana"/>
                <a:cs typeface="Verdana"/>
              </a:rPr>
              <a:t>y</a:t>
            </a:r>
            <a:r>
              <a:rPr sz="2300" spc="-114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mostrar </a:t>
            </a:r>
            <a:r>
              <a:rPr sz="2300" spc="-60" dirty="0">
                <a:latin typeface="Verdana"/>
                <a:cs typeface="Verdana"/>
              </a:rPr>
              <a:t>progreso,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Decidir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55" dirty="0">
                <a:latin typeface="Verdana"/>
                <a:cs typeface="Verdana"/>
              </a:rPr>
              <a:t>si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sube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nivel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exigiendo</a:t>
            </a:r>
            <a:r>
              <a:rPr sz="2300" spc="-130" dirty="0">
                <a:latin typeface="Verdana"/>
                <a:cs typeface="Verdana"/>
              </a:rPr>
              <a:t> </a:t>
            </a:r>
            <a:r>
              <a:rPr sz="2300" spc="20" dirty="0">
                <a:latin typeface="Verdana"/>
                <a:cs typeface="Verdana"/>
              </a:rPr>
              <a:t>un </a:t>
            </a:r>
            <a:r>
              <a:rPr sz="2300" dirty="0">
                <a:latin typeface="Verdana"/>
                <a:cs typeface="Verdana"/>
              </a:rPr>
              <a:t>puntaje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75" dirty="0">
                <a:latin typeface="Verdana"/>
                <a:cs typeface="Verdana"/>
              </a:rPr>
              <a:t>mínimo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para</a:t>
            </a:r>
            <a:r>
              <a:rPr sz="2300" spc="-13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desbloquear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contenidos, </a:t>
            </a:r>
            <a:r>
              <a:rPr sz="2300" spc="-155" dirty="0">
                <a:latin typeface="Verdana"/>
                <a:cs typeface="Verdana"/>
              </a:rPr>
              <a:t>y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desplegar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el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Historial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del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-25" dirty="0">
                <a:latin typeface="Verdana"/>
                <a:cs typeface="Verdana"/>
              </a:rPr>
              <a:t>usuario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70" dirty="0">
                <a:latin typeface="Verdana"/>
                <a:cs typeface="Verdana"/>
              </a:rPr>
              <a:t>como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30" dirty="0">
                <a:latin typeface="Verdana"/>
                <a:cs typeface="Verdana"/>
              </a:rPr>
              <a:t>un </a:t>
            </a:r>
            <a:r>
              <a:rPr sz="2300" dirty="0">
                <a:latin typeface="Verdana"/>
                <a:cs typeface="Verdana"/>
              </a:rPr>
              <a:t>panel</a:t>
            </a:r>
            <a:r>
              <a:rPr sz="2300" spc="-40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centralizado</a:t>
            </a:r>
            <a:r>
              <a:rPr sz="2300" spc="-3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de</a:t>
            </a:r>
            <a:r>
              <a:rPr sz="2300" spc="-3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calificaciones.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38C4F716-5235-D609-F03A-E4910562F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22067"/>
              </p:ext>
            </p:extLst>
          </p:nvPr>
        </p:nvGraphicFramePr>
        <p:xfrm>
          <a:off x="7696200" y="2247900"/>
          <a:ext cx="9601200" cy="65279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9963">
                  <a:extLst>
                    <a:ext uri="{9D8B030D-6E8A-4147-A177-3AD203B41FA5}">
                      <a16:colId xmlns:a16="http://schemas.microsoft.com/office/drawing/2014/main" val="781871770"/>
                    </a:ext>
                  </a:extLst>
                </a:gridCol>
                <a:gridCol w="2800075">
                  <a:extLst>
                    <a:ext uri="{9D8B030D-6E8A-4147-A177-3AD203B41FA5}">
                      <a16:colId xmlns:a16="http://schemas.microsoft.com/office/drawing/2014/main" val="933606931"/>
                    </a:ext>
                  </a:extLst>
                </a:gridCol>
                <a:gridCol w="491568">
                  <a:extLst>
                    <a:ext uri="{9D8B030D-6E8A-4147-A177-3AD203B41FA5}">
                      <a16:colId xmlns:a16="http://schemas.microsoft.com/office/drawing/2014/main" val="736411835"/>
                    </a:ext>
                  </a:extLst>
                </a:gridCol>
                <a:gridCol w="491568">
                  <a:extLst>
                    <a:ext uri="{9D8B030D-6E8A-4147-A177-3AD203B41FA5}">
                      <a16:colId xmlns:a16="http://schemas.microsoft.com/office/drawing/2014/main" val="2075022877"/>
                    </a:ext>
                  </a:extLst>
                </a:gridCol>
                <a:gridCol w="2808026">
                  <a:extLst>
                    <a:ext uri="{9D8B030D-6E8A-4147-A177-3AD203B41FA5}">
                      <a16:colId xmlns:a16="http://schemas.microsoft.com/office/drawing/2014/main" val="1987947681"/>
                    </a:ext>
                  </a:extLst>
                </a:gridCol>
              </a:tblGrid>
              <a:tr h="4828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Numero de requisito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RF01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447537"/>
                  </a:ext>
                </a:extLst>
              </a:tr>
              <a:tr h="4828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Nombre de requisito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Registros Usuario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22918"/>
                  </a:ext>
                </a:extLst>
              </a:tr>
              <a:tr h="9817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Objetivo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Permitir a los usuarios crear una cuenta en la aplicación para acceder a las funcionalidades del sistema y guardar su proceso de aprendizaje.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978352"/>
                  </a:ext>
                </a:extLst>
              </a:tr>
              <a:tr h="9682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Tipo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4185" algn="l"/>
                        </a:tabLst>
                      </a:pPr>
                      <a:endParaRPr lang="es-ES" sz="1800"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s-ES" sz="1800">
                          <a:effectLst/>
                        </a:rPr>
                        <a:t>XXXXx</a:t>
                      </a:r>
                    </a:p>
                    <a:p>
                      <a:r>
                        <a:rPr lang="en-US" sz="1800">
                          <a:effectLst/>
                        </a:rPr>
                        <a:t>Requisito</a:t>
                      </a:r>
                      <a:r>
                        <a:rPr lang="es-ES" sz="1800">
                          <a:effectLst/>
                        </a:rPr>
                        <a:t> </a:t>
                      </a:r>
                      <a:endParaRPr lang="es-ES" sz="18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4185" algn="l"/>
                        </a:tabLst>
                      </a:pPr>
                      <a:r>
                        <a:rPr lang="en-US" sz="1800">
                          <a:effectLst/>
                        </a:rPr>
                        <a:t>      Restricción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206335"/>
                  </a:ext>
                </a:extLst>
              </a:tr>
              <a:tr h="2350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Fuente del requisito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Usuario/ Estudiante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24052"/>
                  </a:ext>
                </a:extLst>
              </a:tr>
              <a:tr h="12689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 Alta/Esencial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Media/Deseado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    Baja/Opcional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3239771"/>
                  </a:ext>
                </a:extLst>
              </a:tr>
              <a:tr h="1231239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Descripción</a:t>
                      </a:r>
                      <a:r>
                        <a:rPr lang="en-US" sz="1800" dirty="0">
                          <a:effectLst/>
                        </a:rPr>
                        <a:t> del </a:t>
                      </a:r>
                      <a:r>
                        <a:rPr lang="en-US" sz="1800" dirty="0" err="1">
                          <a:effectLst/>
                        </a:rPr>
                        <a:t>requerimiento</a:t>
                      </a:r>
                      <a:endParaRPr lang="es-E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</a:rPr>
                        <a:t>El sistema debe permitir el registro de nuevo usuarios mediante el ingreso de datos básicos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información solicitada será:</a:t>
                      </a:r>
                      <a:endParaRPr lang="es-E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657933"/>
                  </a:ext>
                </a:extLst>
              </a:tr>
              <a:tr h="482843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Nombre, correo electrónico, contraseña y edad del usuario</a:t>
                      </a:r>
                      <a:endParaRPr lang="es-E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46"/>
                  </a:ext>
                </a:extLst>
              </a:tr>
            </a:tbl>
          </a:graphicData>
        </a:graphic>
      </p:graphicFrame>
      <p:sp>
        <p:nvSpPr>
          <p:cNvPr id="33" name="Rectángulo 32">
            <a:extLst>
              <a:ext uri="{FF2B5EF4-FFF2-40B4-BE49-F238E27FC236}">
                <a16:creationId xmlns:a16="http://schemas.microsoft.com/office/drawing/2014/main" id="{57BA59D6-B658-138C-5AF4-26FACCB006E0}"/>
              </a:ext>
            </a:extLst>
          </p:cNvPr>
          <p:cNvSpPr/>
          <p:nvPr/>
        </p:nvSpPr>
        <p:spPr>
          <a:xfrm>
            <a:off x="11327912" y="3030979"/>
            <a:ext cx="290183" cy="164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ES" sz="1100">
                <a:effectLst/>
                <a:ea typeface="MS Mincho" panose="02020609040205080304" pitchFamily="49" charset="-128"/>
                <a:cs typeface="Arial" panose="020B0604020202020204" pitchFamily="34" charset="0"/>
              </a:rPr>
              <a:t>XXXXx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3FC3D0-21C6-8ACB-5F93-EF5DCD05BE9C}"/>
              </a:ext>
            </a:extLst>
          </p:cNvPr>
          <p:cNvSpPr/>
          <p:nvPr/>
        </p:nvSpPr>
        <p:spPr>
          <a:xfrm>
            <a:off x="15923723" y="6580926"/>
            <a:ext cx="290185" cy="1626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D385CFF-BB71-A340-1D55-7327288158EB}"/>
              </a:ext>
            </a:extLst>
          </p:cNvPr>
          <p:cNvSpPr/>
          <p:nvPr/>
        </p:nvSpPr>
        <p:spPr>
          <a:xfrm>
            <a:off x="14202873" y="7037829"/>
            <a:ext cx="290185" cy="164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B9654CE-C82E-E85F-C36B-98CD85C5B6C9}"/>
              </a:ext>
            </a:extLst>
          </p:cNvPr>
          <p:cNvSpPr/>
          <p:nvPr/>
        </p:nvSpPr>
        <p:spPr>
          <a:xfrm>
            <a:off x="15318887" y="7037829"/>
            <a:ext cx="290183" cy="164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8373A42-E1D0-4C59-406B-3A0F6BB95150}"/>
              </a:ext>
            </a:extLst>
          </p:cNvPr>
          <p:cNvSpPr/>
          <p:nvPr/>
        </p:nvSpPr>
        <p:spPr>
          <a:xfrm>
            <a:off x="16441248" y="7037829"/>
            <a:ext cx="290185" cy="164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38" name="Diagrama de flujo: conector 37">
            <a:extLst>
              <a:ext uri="{FF2B5EF4-FFF2-40B4-BE49-F238E27FC236}">
                <a16:creationId xmlns:a16="http://schemas.microsoft.com/office/drawing/2014/main" id="{BFC5715A-F18F-D606-42ED-3B87948314C6}"/>
              </a:ext>
            </a:extLst>
          </p:cNvPr>
          <p:cNvSpPr/>
          <p:nvPr/>
        </p:nvSpPr>
        <p:spPr>
          <a:xfrm>
            <a:off x="14262280" y="6600193"/>
            <a:ext cx="190806" cy="112982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DA195FD1-0420-168F-B36A-57CF36143AF8}"/>
              </a:ext>
            </a:extLst>
          </p:cNvPr>
          <p:cNvSpPr/>
          <p:nvPr/>
        </p:nvSpPr>
        <p:spPr>
          <a:xfrm>
            <a:off x="14259140" y="7063743"/>
            <a:ext cx="194782" cy="112982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372600" y="423988"/>
            <a:ext cx="8577351" cy="85931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lang="es-ES" dirty="0"/>
              <a:t>Para ilustrar cómo se estructuran estas funciones, pasemos a observar nuestro diagrama de casos de uso, el cual define claramente las interacciones entre los usuarios y el sistema.​En nuestra arquitectura operan dos actores principales: el Estudiante y el Tutor o Maestro.​Por parte del Estudiante, las operaciones básicas incluyen registrarse e iniciar sesión. Una vez dentro, puede visualizar lecciones y realizar actividades interactivas. Como pueden notar en el diagrama, esta actividad desencadena una relación de inclusión (&lt;&lt;</a:t>
            </a:r>
            <a:r>
              <a:rPr lang="es-ES" dirty="0" err="1"/>
              <a:t>include</a:t>
            </a:r>
            <a:r>
              <a:rPr lang="es-ES" dirty="0"/>
              <a:t>&gt;&gt;), ya que el sistema obligatoriamente evalúa las respuestas, muestra la retroalimentación al niño y registra su puntuación. El estudiante también puede consultar su historial y avanzar de nivel, lo cual incluye la verificación interna de una puntuación mínima.​Por otro lado, el Tutor o Maestro cuenta con privilegios administrativos. Sus roles principales interactúan con el sistema para generar reportes de desempeño automatizados, así como para administrar a los usuarios registrados y gestionar las lecciones del catálogo. Esto asegura un control completo sobre el entorno educativo."</a:t>
            </a:r>
            <a:endParaRPr spc="-1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38785" y="429431"/>
            <a:ext cx="601472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3.</a:t>
            </a:r>
            <a:r>
              <a:rPr spc="-275" dirty="0"/>
              <a:t> </a:t>
            </a:r>
            <a:r>
              <a:rPr spc="-185" dirty="0"/>
              <a:t>Ingeniería</a:t>
            </a:r>
            <a:r>
              <a:rPr spc="-270" dirty="0"/>
              <a:t> </a:t>
            </a:r>
            <a:r>
              <a:rPr spc="-240" dirty="0"/>
              <a:t>de</a:t>
            </a:r>
            <a:r>
              <a:rPr spc="-270" dirty="0"/>
              <a:t> </a:t>
            </a:r>
            <a:r>
              <a:rPr spc="-190" dirty="0"/>
              <a:t>Software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73676" y="1763782"/>
            <a:ext cx="55638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latin typeface="Verdana"/>
                <a:cs typeface="Verdana"/>
              </a:rPr>
              <a:t>Diagrama</a:t>
            </a:r>
            <a:r>
              <a:rPr sz="3400" spc="-27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7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caso</a:t>
            </a:r>
            <a:r>
              <a:rPr sz="3400" spc="-270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70" dirty="0">
                <a:latin typeface="Verdana"/>
                <a:cs typeface="Verdana"/>
              </a:rPr>
              <a:t> </a:t>
            </a:r>
            <a:r>
              <a:rPr sz="3400" spc="-150" dirty="0">
                <a:latin typeface="Verdana"/>
                <a:cs typeface="Verdana"/>
              </a:rPr>
              <a:t>Uso: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48" y="2317362"/>
            <a:ext cx="8577351" cy="7037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500"/>
            <a:ext cx="17628622" cy="10096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50883" y="368014"/>
            <a:ext cx="389001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4.</a:t>
            </a:r>
            <a:r>
              <a:rPr spc="-275" dirty="0"/>
              <a:t> </a:t>
            </a:r>
            <a:r>
              <a:rPr spc="-360" dirty="0"/>
              <a:t>Base</a:t>
            </a:r>
            <a:r>
              <a:rPr spc="-275" dirty="0"/>
              <a:t> </a:t>
            </a:r>
            <a:r>
              <a:rPr spc="-240" dirty="0"/>
              <a:t>de</a:t>
            </a:r>
            <a:r>
              <a:rPr spc="-270" dirty="0"/>
              <a:t> </a:t>
            </a:r>
            <a:r>
              <a:rPr spc="-175" dirty="0"/>
              <a:t>datos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0420" y="1570793"/>
            <a:ext cx="7815580" cy="683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95"/>
              </a:spcBef>
            </a:pPr>
            <a:r>
              <a:rPr sz="3400" spc="100" dirty="0">
                <a:latin typeface="Verdana"/>
                <a:cs typeface="Verdana"/>
              </a:rPr>
              <a:t>Modelo</a:t>
            </a:r>
            <a:r>
              <a:rPr sz="3400" spc="-190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Entidad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Relacion</a:t>
            </a:r>
            <a:r>
              <a:rPr sz="3400" spc="-190" dirty="0">
                <a:latin typeface="Verdana"/>
                <a:cs typeface="Verdana"/>
              </a:rPr>
              <a:t> </a:t>
            </a:r>
            <a:r>
              <a:rPr sz="3400" spc="-135" dirty="0">
                <a:latin typeface="Verdana"/>
                <a:cs typeface="Verdana"/>
              </a:rPr>
              <a:t>E-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spc="-405" dirty="0">
                <a:latin typeface="Verdana"/>
                <a:cs typeface="Verdana"/>
              </a:rPr>
              <a:t>R:</a:t>
            </a:r>
            <a:endParaRPr sz="3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5700"/>
              </a:lnSpc>
            </a:pPr>
            <a:r>
              <a:rPr sz="2700" spc="55" dirty="0">
                <a:latin typeface="Verdana"/>
                <a:cs typeface="Verdana"/>
              </a:rPr>
              <a:t>El</a:t>
            </a:r>
            <a:r>
              <a:rPr sz="2700" spc="-120" dirty="0">
                <a:latin typeface="Verdana"/>
                <a:cs typeface="Verdana"/>
              </a:rPr>
              <a:t> </a:t>
            </a:r>
            <a:r>
              <a:rPr sz="2700" spc="75" dirty="0">
                <a:latin typeface="Verdana"/>
                <a:cs typeface="Verdana"/>
              </a:rPr>
              <a:t>modelo</a:t>
            </a:r>
            <a:r>
              <a:rPr sz="2700" spc="-120" dirty="0">
                <a:latin typeface="Verdana"/>
                <a:cs typeface="Verdana"/>
              </a:rPr>
              <a:t> </a:t>
            </a:r>
            <a:r>
              <a:rPr sz="2700" spc="-35" dirty="0">
                <a:latin typeface="Verdana"/>
                <a:cs typeface="Verdana"/>
              </a:rPr>
              <a:t>Entidad–</a:t>
            </a:r>
            <a:r>
              <a:rPr sz="2700" dirty="0">
                <a:latin typeface="Verdana"/>
                <a:cs typeface="Verdana"/>
              </a:rPr>
              <a:t>Relación</a:t>
            </a:r>
            <a:r>
              <a:rPr sz="2700" spc="-12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representa</a:t>
            </a:r>
            <a:r>
              <a:rPr sz="2700" spc="-114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la estructura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base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datos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sistema, </a:t>
            </a:r>
            <a:r>
              <a:rPr sz="2700" spc="45" dirty="0">
                <a:latin typeface="Verdana"/>
                <a:cs typeface="Verdana"/>
              </a:rPr>
              <a:t>identificando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las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principales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entidades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75" dirty="0">
                <a:latin typeface="Verdana"/>
                <a:cs typeface="Verdana"/>
              </a:rPr>
              <a:t>como </a:t>
            </a:r>
            <a:r>
              <a:rPr sz="2700" spc="-85" dirty="0">
                <a:latin typeface="Verdana"/>
                <a:cs typeface="Verdana"/>
              </a:rPr>
              <a:t>usuarios,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lecciones,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actividades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progreso, </a:t>
            </a:r>
            <a:r>
              <a:rPr sz="2700" dirty="0">
                <a:latin typeface="Verdana"/>
                <a:cs typeface="Verdana"/>
              </a:rPr>
              <a:t>junto</a:t>
            </a:r>
            <a:r>
              <a:rPr sz="2700" spc="-185" dirty="0">
                <a:latin typeface="Verdana"/>
                <a:cs typeface="Verdana"/>
              </a:rPr>
              <a:t> </a:t>
            </a:r>
            <a:r>
              <a:rPr sz="2700" spc="70" dirty="0">
                <a:latin typeface="Verdana"/>
                <a:cs typeface="Verdana"/>
              </a:rPr>
              <a:t>con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95" dirty="0">
                <a:latin typeface="Verdana"/>
                <a:cs typeface="Verdana"/>
              </a:rPr>
              <a:t>sus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atributos.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Además,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define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las </a:t>
            </a:r>
            <a:r>
              <a:rPr sz="2700" spc="-10" dirty="0">
                <a:latin typeface="Verdana"/>
                <a:cs typeface="Verdana"/>
              </a:rPr>
              <a:t>relaciones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entre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75" dirty="0">
                <a:latin typeface="Verdana"/>
                <a:cs typeface="Verdana"/>
              </a:rPr>
              <a:t>estas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entidades,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95" dirty="0">
                <a:latin typeface="Verdana"/>
                <a:cs typeface="Verdana"/>
              </a:rPr>
              <a:t>como</a:t>
            </a:r>
            <a:r>
              <a:rPr sz="2700" spc="-195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la </a:t>
            </a:r>
            <a:r>
              <a:rPr sz="2700" dirty="0">
                <a:latin typeface="Verdana"/>
                <a:cs typeface="Verdana"/>
              </a:rPr>
              <a:t>interacción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usuario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70" dirty="0">
                <a:latin typeface="Verdana"/>
                <a:cs typeface="Verdana"/>
              </a:rPr>
              <a:t>con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las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actividades</a:t>
            </a:r>
            <a:r>
              <a:rPr sz="2700" spc="-165" dirty="0">
                <a:latin typeface="Verdana"/>
                <a:cs typeface="Verdana"/>
              </a:rPr>
              <a:t> </a:t>
            </a:r>
            <a:r>
              <a:rPr sz="2700" spc="-50" dirty="0">
                <a:latin typeface="Verdana"/>
                <a:cs typeface="Verdana"/>
              </a:rPr>
              <a:t>y </a:t>
            </a:r>
            <a:r>
              <a:rPr sz="2700" dirty="0">
                <a:latin typeface="Verdana"/>
                <a:cs typeface="Verdana"/>
              </a:rPr>
              <a:t>el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35" dirty="0">
                <a:latin typeface="Verdana"/>
                <a:cs typeface="Verdana"/>
              </a:rPr>
              <a:t>registro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su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-85" dirty="0">
                <a:latin typeface="Verdana"/>
                <a:cs typeface="Verdana"/>
              </a:rPr>
              <a:t>avance.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30" dirty="0">
                <a:latin typeface="Verdana"/>
                <a:cs typeface="Verdana"/>
              </a:rPr>
              <a:t>Este</a:t>
            </a:r>
            <a:r>
              <a:rPr sz="2700" spc="-200" dirty="0">
                <a:latin typeface="Verdana"/>
                <a:cs typeface="Verdana"/>
              </a:rPr>
              <a:t> </a:t>
            </a:r>
            <a:r>
              <a:rPr sz="2700" spc="75" dirty="0">
                <a:latin typeface="Verdana"/>
                <a:cs typeface="Verdana"/>
              </a:rPr>
              <a:t>modelo</a:t>
            </a:r>
            <a:r>
              <a:rPr sz="2700" spc="-20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permite organizar</a:t>
            </a:r>
            <a:r>
              <a:rPr sz="2700" spc="-12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1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información</a:t>
            </a:r>
            <a:r>
              <a:rPr sz="2700" spc="-114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2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forma</a:t>
            </a:r>
            <a:r>
              <a:rPr sz="2700" spc="-114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lógica, </a:t>
            </a:r>
            <a:r>
              <a:rPr sz="2700" dirty="0">
                <a:latin typeface="Verdana"/>
                <a:cs typeface="Verdana"/>
              </a:rPr>
              <a:t>facilitando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su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posterior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implementación</a:t>
            </a:r>
            <a:r>
              <a:rPr sz="2700" spc="-12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en</a:t>
            </a:r>
            <a:r>
              <a:rPr sz="2700" spc="-120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el </a:t>
            </a:r>
            <a:r>
              <a:rPr sz="2700" spc="75" dirty="0">
                <a:latin typeface="Verdana"/>
                <a:cs typeface="Verdana"/>
              </a:rPr>
              <a:t>modelo</a:t>
            </a:r>
            <a:r>
              <a:rPr sz="2700" spc="-18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relacional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asegurando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la</a:t>
            </a:r>
            <a:r>
              <a:rPr sz="2700" spc="-18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integridad </a:t>
            </a:r>
            <a:r>
              <a:rPr sz="2700" spc="-185" dirty="0">
                <a:latin typeface="Verdana"/>
                <a:cs typeface="Verdana"/>
              </a:rPr>
              <a:t>y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coherencia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los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datos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dentro</a:t>
            </a:r>
            <a:r>
              <a:rPr sz="2700" spc="-155" dirty="0">
                <a:latin typeface="Verdana"/>
                <a:cs typeface="Verdana"/>
              </a:rPr>
              <a:t> </a:t>
            </a:r>
            <a:r>
              <a:rPr sz="2700" spc="55" dirty="0">
                <a:latin typeface="Verdana"/>
                <a:cs typeface="Verdana"/>
              </a:rPr>
              <a:t>del</a:t>
            </a:r>
            <a:r>
              <a:rPr sz="2700" spc="-16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sistema.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4621" y="1790009"/>
            <a:ext cx="9544437" cy="6625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0881" y="2146549"/>
            <a:ext cx="11766131" cy="5993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67383" y="353203"/>
            <a:ext cx="3764279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5" dirty="0"/>
              <a:t>4.Base</a:t>
            </a:r>
            <a:r>
              <a:rPr spc="-275" dirty="0"/>
              <a:t> </a:t>
            </a:r>
            <a:r>
              <a:rPr spc="-240" dirty="0"/>
              <a:t>de</a:t>
            </a:r>
            <a:r>
              <a:rPr spc="-275" dirty="0"/>
              <a:t> </a:t>
            </a:r>
            <a:r>
              <a:rPr spc="-175" dirty="0"/>
              <a:t>datos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2183" y="1592969"/>
            <a:ext cx="5847080" cy="7091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95"/>
              </a:spcBef>
            </a:pPr>
            <a:r>
              <a:rPr sz="3400" spc="100" dirty="0">
                <a:latin typeface="Verdana"/>
                <a:cs typeface="Verdana"/>
              </a:rPr>
              <a:t>Modelo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relacional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5999"/>
              </a:lnSpc>
              <a:spcBef>
                <a:spcPts val="1430"/>
              </a:spcBef>
            </a:pPr>
            <a:r>
              <a:rPr sz="2400" spc="50" dirty="0">
                <a:latin typeface="Verdana"/>
                <a:cs typeface="Verdana"/>
              </a:rPr>
              <a:t>El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modelo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relacional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traduce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el </a:t>
            </a:r>
            <a:r>
              <a:rPr sz="2400" spc="60" dirty="0">
                <a:latin typeface="Verdana"/>
                <a:cs typeface="Verdana"/>
              </a:rPr>
              <a:t>modelo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Entidad–</a:t>
            </a:r>
            <a:r>
              <a:rPr sz="2400" dirty="0">
                <a:latin typeface="Verdana"/>
                <a:cs typeface="Verdana"/>
              </a:rPr>
              <a:t>Relación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tablas estructuradas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dentro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de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base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35" dirty="0">
                <a:latin typeface="Verdana"/>
                <a:cs typeface="Verdana"/>
              </a:rPr>
              <a:t>de </a:t>
            </a:r>
            <a:r>
              <a:rPr sz="2400" spc="-60" dirty="0">
                <a:latin typeface="Verdana"/>
                <a:cs typeface="Verdana"/>
              </a:rPr>
              <a:t>datos,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donde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cada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entidad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se </a:t>
            </a:r>
            <a:r>
              <a:rPr sz="2400" spc="-10" dirty="0">
                <a:latin typeface="Verdana"/>
                <a:cs typeface="Verdana"/>
              </a:rPr>
              <a:t>convierte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una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tabla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con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sus respectivos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atributos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65" dirty="0">
                <a:latin typeface="Verdana"/>
                <a:cs typeface="Verdana"/>
              </a:rPr>
              <a:t>y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claves </a:t>
            </a:r>
            <a:r>
              <a:rPr sz="2400" spc="-40" dirty="0">
                <a:latin typeface="Verdana"/>
                <a:cs typeface="Verdana"/>
              </a:rPr>
              <a:t>primarias.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Además,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se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establecen </a:t>
            </a:r>
            <a:r>
              <a:rPr sz="2400" dirty="0">
                <a:latin typeface="Verdana"/>
                <a:cs typeface="Verdana"/>
              </a:rPr>
              <a:t>relaciones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mediante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claves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foráneas </a:t>
            </a:r>
            <a:r>
              <a:rPr sz="2400" spc="55" dirty="0">
                <a:latin typeface="Verdana"/>
                <a:cs typeface="Verdana"/>
              </a:rPr>
              <a:t>que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permiten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vincular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información entre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tablas,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como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usuarios, </a:t>
            </a:r>
            <a:r>
              <a:rPr sz="2400" dirty="0">
                <a:latin typeface="Verdana"/>
                <a:cs typeface="Verdana"/>
              </a:rPr>
              <a:t>actividades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65" dirty="0">
                <a:latin typeface="Verdana"/>
                <a:cs typeface="Verdana"/>
              </a:rPr>
              <a:t>y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progreso.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Este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modelo </a:t>
            </a:r>
            <a:r>
              <a:rPr sz="2400" dirty="0">
                <a:latin typeface="Verdana"/>
                <a:cs typeface="Verdana"/>
              </a:rPr>
              <a:t>garantiza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organización,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integridad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y </a:t>
            </a:r>
            <a:r>
              <a:rPr sz="2400" dirty="0">
                <a:latin typeface="Verdana"/>
                <a:cs typeface="Verdana"/>
              </a:rPr>
              <a:t>consistencia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de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los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datos,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facilitando </a:t>
            </a:r>
            <a:r>
              <a:rPr sz="2400" spc="-40" dirty="0">
                <a:latin typeface="Verdana"/>
                <a:cs typeface="Verdana"/>
              </a:rPr>
              <a:t>su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almacenamiento,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consulta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y </a:t>
            </a:r>
            <a:r>
              <a:rPr sz="2400" dirty="0">
                <a:latin typeface="Verdana"/>
                <a:cs typeface="Verdana"/>
              </a:rPr>
              <a:t>gestión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dentro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del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sistema.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0419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5. </a:t>
            </a:r>
            <a:r>
              <a:rPr spc="-300" dirty="0"/>
              <a:t>Estadística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633" y="1056994"/>
            <a:ext cx="11893550" cy="743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1020" marR="3298825" indent="-1988185">
              <a:lnSpc>
                <a:spcPct val="115799"/>
              </a:lnSpc>
              <a:spcBef>
                <a:spcPts val="100"/>
              </a:spcBef>
            </a:pPr>
            <a:r>
              <a:rPr sz="3400" dirty="0">
                <a:latin typeface="Verdana"/>
                <a:cs typeface="Verdana"/>
              </a:rPr>
              <a:t>Resultados</a:t>
            </a:r>
            <a:r>
              <a:rPr sz="3400" spc="-19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principales</a:t>
            </a:r>
            <a:r>
              <a:rPr sz="3400" spc="-190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190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las </a:t>
            </a:r>
            <a:r>
              <a:rPr sz="3400" spc="-10" dirty="0">
                <a:latin typeface="Verdana"/>
                <a:cs typeface="Verdana"/>
              </a:rPr>
              <a:t>encuestas: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  <a:spcBef>
                <a:spcPts val="1215"/>
              </a:spcBef>
            </a:pPr>
            <a:r>
              <a:rPr sz="2850" spc="60" dirty="0">
                <a:latin typeface="Verdana"/>
                <a:cs typeface="Verdana"/>
              </a:rPr>
              <a:t>El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-30" dirty="0">
                <a:latin typeface="Verdana"/>
                <a:cs typeface="Verdana"/>
              </a:rPr>
              <a:t>análisis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estadístico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realizado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spc="-60" dirty="0">
                <a:latin typeface="Verdana"/>
                <a:cs typeface="Verdana"/>
              </a:rPr>
              <a:t>a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spc="-145" dirty="0">
                <a:latin typeface="Verdana"/>
                <a:cs typeface="Verdana"/>
              </a:rPr>
              <a:t>32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spc="-20" dirty="0">
                <a:latin typeface="Verdana"/>
                <a:cs typeface="Verdana"/>
              </a:rPr>
              <a:t>tutores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-20" dirty="0">
                <a:latin typeface="Verdana"/>
                <a:cs typeface="Verdana"/>
              </a:rPr>
              <a:t>valida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formalmente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spc="-25" dirty="0">
                <a:latin typeface="Verdana"/>
                <a:cs typeface="Verdana"/>
              </a:rPr>
              <a:t>la </a:t>
            </a:r>
            <a:r>
              <a:rPr sz="2850" dirty="0">
                <a:latin typeface="Verdana"/>
                <a:cs typeface="Verdana"/>
              </a:rPr>
              <a:t>pertinencia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del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spc="-45" dirty="0">
                <a:latin typeface="Verdana"/>
                <a:cs typeface="Verdana"/>
              </a:rPr>
              <a:t>proyecto,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destacando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spc="55" dirty="0">
                <a:latin typeface="Verdana"/>
                <a:cs typeface="Verdana"/>
              </a:rPr>
              <a:t>que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spc="-105" dirty="0">
                <a:latin typeface="Verdana"/>
                <a:cs typeface="Verdana"/>
              </a:rPr>
              <a:t>75.00%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35" dirty="0">
                <a:latin typeface="Verdana"/>
                <a:cs typeface="Verdana"/>
              </a:rPr>
              <a:t> </a:t>
            </a:r>
            <a:r>
              <a:rPr sz="2850" spc="-25" dirty="0">
                <a:latin typeface="Verdana"/>
                <a:cs typeface="Verdana"/>
              </a:rPr>
              <a:t>los </a:t>
            </a:r>
            <a:r>
              <a:rPr sz="2850" spc="-40" dirty="0">
                <a:latin typeface="Verdana"/>
                <a:cs typeface="Verdana"/>
              </a:rPr>
              <a:t>usuarios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dispone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smartphones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spc="100" dirty="0">
                <a:latin typeface="Verdana"/>
                <a:cs typeface="Verdana"/>
              </a:rPr>
              <a:t>como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spc="50" dirty="0">
                <a:latin typeface="Verdana"/>
                <a:cs typeface="Verdana"/>
              </a:rPr>
              <a:t>principal</a:t>
            </a:r>
            <a:r>
              <a:rPr sz="2850" spc="-140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dispositivo </a:t>
            </a:r>
            <a:r>
              <a:rPr sz="2850" dirty="0">
                <a:latin typeface="Verdana"/>
                <a:cs typeface="Verdana"/>
              </a:rPr>
              <a:t>educativo</a:t>
            </a:r>
            <a:r>
              <a:rPr sz="2850" spc="-200" dirty="0">
                <a:latin typeface="Verdana"/>
                <a:cs typeface="Verdana"/>
              </a:rPr>
              <a:t> </a:t>
            </a:r>
            <a:r>
              <a:rPr sz="2850" spc="-195" dirty="0">
                <a:latin typeface="Verdana"/>
                <a:cs typeface="Verdana"/>
              </a:rPr>
              <a:t>y </a:t>
            </a:r>
            <a:r>
              <a:rPr sz="2850" spc="70" dirty="0">
                <a:latin typeface="Verdana"/>
                <a:cs typeface="Verdana"/>
              </a:rPr>
              <a:t>un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140" dirty="0">
                <a:latin typeface="Verdana"/>
                <a:cs typeface="Verdana"/>
              </a:rPr>
              <a:t>40.62%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prioriza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50" dirty="0">
                <a:latin typeface="Verdana"/>
                <a:cs typeface="Verdana"/>
              </a:rPr>
              <a:t>funcionamiento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20" dirty="0">
                <a:latin typeface="Verdana"/>
                <a:cs typeface="Verdana"/>
              </a:rPr>
              <a:t>sin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conexión </a:t>
            </a:r>
            <a:r>
              <a:rPr sz="2850" spc="-110" dirty="0">
                <a:latin typeface="Verdana"/>
                <a:cs typeface="Verdana"/>
              </a:rPr>
              <a:t>(offline).</a:t>
            </a:r>
            <a:r>
              <a:rPr sz="2850" spc="-185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Asimismo,</a:t>
            </a:r>
            <a:r>
              <a:rPr sz="2850" spc="-18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185" dirty="0">
                <a:latin typeface="Verdana"/>
                <a:cs typeface="Verdana"/>
              </a:rPr>
              <a:t> </a:t>
            </a:r>
            <a:r>
              <a:rPr sz="2850" spc="-210" dirty="0">
                <a:latin typeface="Verdana"/>
                <a:cs typeface="Verdana"/>
              </a:rPr>
              <a:t>43.75%</a:t>
            </a:r>
            <a:r>
              <a:rPr sz="2850" spc="-180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8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la</a:t>
            </a:r>
            <a:r>
              <a:rPr sz="2850" spc="-185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muestra</a:t>
            </a:r>
            <a:r>
              <a:rPr sz="2850" spc="-18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identifica</a:t>
            </a:r>
            <a:r>
              <a:rPr sz="2850" spc="-18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la</a:t>
            </a:r>
            <a:r>
              <a:rPr sz="2850" spc="-18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falta</a:t>
            </a:r>
            <a:r>
              <a:rPr sz="2850" spc="-180" dirty="0">
                <a:latin typeface="Verdana"/>
                <a:cs typeface="Verdana"/>
              </a:rPr>
              <a:t> </a:t>
            </a:r>
            <a:r>
              <a:rPr sz="2850" spc="35" dirty="0">
                <a:latin typeface="Verdana"/>
                <a:cs typeface="Verdana"/>
              </a:rPr>
              <a:t>de </a:t>
            </a:r>
            <a:r>
              <a:rPr sz="2850" dirty="0">
                <a:latin typeface="Verdana"/>
                <a:cs typeface="Verdana"/>
              </a:rPr>
              <a:t>métodos</a:t>
            </a:r>
            <a:r>
              <a:rPr sz="2850" spc="-175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motivadores</a:t>
            </a:r>
            <a:r>
              <a:rPr sz="2850" spc="-170" dirty="0">
                <a:latin typeface="Verdana"/>
                <a:cs typeface="Verdana"/>
              </a:rPr>
              <a:t> </a:t>
            </a:r>
            <a:r>
              <a:rPr sz="2850" spc="100" dirty="0">
                <a:latin typeface="Verdana"/>
                <a:cs typeface="Verdana"/>
              </a:rPr>
              <a:t>como</a:t>
            </a:r>
            <a:r>
              <a:rPr sz="2850" spc="-17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la</a:t>
            </a:r>
            <a:r>
              <a:rPr sz="2850" spc="-170" dirty="0">
                <a:latin typeface="Verdana"/>
                <a:cs typeface="Verdana"/>
              </a:rPr>
              <a:t> </a:t>
            </a:r>
            <a:r>
              <a:rPr sz="2850" spc="50" dirty="0">
                <a:latin typeface="Verdana"/>
                <a:cs typeface="Verdana"/>
              </a:rPr>
              <a:t>principal</a:t>
            </a:r>
            <a:r>
              <a:rPr sz="2850" spc="-175" dirty="0">
                <a:latin typeface="Verdana"/>
                <a:cs typeface="Verdana"/>
              </a:rPr>
              <a:t> </a:t>
            </a:r>
            <a:r>
              <a:rPr sz="2850" spc="-45" dirty="0">
                <a:latin typeface="Verdana"/>
                <a:cs typeface="Verdana"/>
              </a:rPr>
              <a:t>barrera</a:t>
            </a:r>
            <a:r>
              <a:rPr sz="2850" spc="-170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7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la</a:t>
            </a:r>
            <a:r>
              <a:rPr sz="2850" spc="-170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enseñanza tradicional,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justificando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enfoque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75" dirty="0">
                <a:latin typeface="Verdana"/>
                <a:cs typeface="Verdana"/>
              </a:rPr>
              <a:t>lúdico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spc="-40" dirty="0">
                <a:latin typeface="Verdana"/>
                <a:cs typeface="Verdana"/>
              </a:rPr>
              <a:t>PlayKids,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spc="-20" dirty="0">
                <a:latin typeface="Verdana"/>
                <a:cs typeface="Verdana"/>
              </a:rPr>
              <a:t>cual </a:t>
            </a:r>
            <a:r>
              <a:rPr sz="2850" dirty="0">
                <a:latin typeface="Verdana"/>
                <a:cs typeface="Verdana"/>
              </a:rPr>
              <a:t>cuenta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85" dirty="0">
                <a:latin typeface="Verdana"/>
                <a:cs typeface="Verdana"/>
              </a:rPr>
              <a:t>con</a:t>
            </a:r>
            <a:r>
              <a:rPr sz="2850" spc="-190" dirty="0">
                <a:latin typeface="Verdana"/>
                <a:cs typeface="Verdana"/>
              </a:rPr>
              <a:t> </a:t>
            </a:r>
            <a:r>
              <a:rPr sz="2850" spc="70" dirty="0">
                <a:latin typeface="Verdana"/>
                <a:cs typeface="Verdana"/>
              </a:rPr>
              <a:t>un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175" dirty="0">
                <a:latin typeface="Verdana"/>
                <a:cs typeface="Verdana"/>
              </a:rPr>
              <a:t>100%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90" dirty="0">
                <a:latin typeface="Verdana"/>
                <a:cs typeface="Verdana"/>
              </a:rPr>
              <a:t> </a:t>
            </a:r>
            <a:r>
              <a:rPr sz="2850" spc="45" dirty="0">
                <a:latin typeface="Verdana"/>
                <a:cs typeface="Verdana"/>
              </a:rPr>
              <a:t>aceptación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45" dirty="0">
                <a:latin typeface="Verdana"/>
                <a:cs typeface="Verdana"/>
              </a:rPr>
              <a:t>pedagógica</a:t>
            </a:r>
            <a:r>
              <a:rPr sz="2850" spc="-19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respecto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25" dirty="0">
                <a:latin typeface="Verdana"/>
                <a:cs typeface="Verdana"/>
              </a:rPr>
              <a:t>al </a:t>
            </a:r>
            <a:r>
              <a:rPr sz="2850" dirty="0">
                <a:latin typeface="Verdana"/>
                <a:cs typeface="Verdana"/>
              </a:rPr>
              <a:t>aprendizaje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basado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en</a:t>
            </a:r>
            <a:r>
              <a:rPr sz="2850" spc="-190" dirty="0">
                <a:latin typeface="Verdana"/>
                <a:cs typeface="Verdana"/>
              </a:rPr>
              <a:t> </a:t>
            </a:r>
            <a:r>
              <a:rPr sz="2850" spc="-95" dirty="0">
                <a:latin typeface="Verdana"/>
                <a:cs typeface="Verdana"/>
              </a:rPr>
              <a:t>juegos.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Finalmente,</a:t>
            </a:r>
            <a:r>
              <a:rPr sz="2850" spc="-19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140" dirty="0">
                <a:latin typeface="Verdana"/>
                <a:cs typeface="Verdana"/>
              </a:rPr>
              <a:t>87.50%</a:t>
            </a:r>
            <a:r>
              <a:rPr sz="2850" spc="-190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25" dirty="0">
                <a:latin typeface="Verdana"/>
                <a:cs typeface="Verdana"/>
              </a:rPr>
              <a:t>los </a:t>
            </a:r>
            <a:r>
              <a:rPr sz="2850" dirty="0">
                <a:latin typeface="Verdana"/>
                <a:cs typeface="Verdana"/>
              </a:rPr>
              <a:t>encuestados</a:t>
            </a:r>
            <a:r>
              <a:rPr sz="2850" spc="-20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ratifica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el</a:t>
            </a:r>
            <a:r>
              <a:rPr sz="2850" spc="-20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alto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55" dirty="0">
                <a:latin typeface="Verdana"/>
                <a:cs typeface="Verdana"/>
              </a:rPr>
              <a:t>valor</a:t>
            </a:r>
            <a:r>
              <a:rPr sz="2850" spc="-20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social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60" dirty="0">
                <a:latin typeface="Verdana"/>
                <a:cs typeface="Verdana"/>
              </a:rPr>
              <a:t>de</a:t>
            </a:r>
            <a:r>
              <a:rPr sz="2850" spc="-20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la</a:t>
            </a:r>
            <a:r>
              <a:rPr sz="2850" spc="-195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herramienta, </a:t>
            </a:r>
            <a:r>
              <a:rPr sz="2850" spc="55" dirty="0">
                <a:latin typeface="Verdana"/>
                <a:cs typeface="Verdana"/>
              </a:rPr>
              <a:t>confirmando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55" dirty="0">
                <a:latin typeface="Verdana"/>
                <a:cs typeface="Verdana"/>
              </a:rPr>
              <a:t>que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-55" dirty="0">
                <a:latin typeface="Verdana"/>
                <a:cs typeface="Verdana"/>
              </a:rPr>
              <a:t>su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acceso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gratuito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-40" dirty="0">
                <a:latin typeface="Verdana"/>
                <a:cs typeface="Verdana"/>
              </a:rPr>
              <a:t>e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inclusivo</a:t>
            </a:r>
            <a:r>
              <a:rPr sz="2850" spc="-155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contribuirá</a:t>
            </a:r>
            <a:r>
              <a:rPr sz="2850" spc="-160" dirty="0">
                <a:latin typeface="Verdana"/>
                <a:cs typeface="Verdana"/>
              </a:rPr>
              <a:t> </a:t>
            </a:r>
            <a:r>
              <a:rPr sz="2850" spc="-50" dirty="0">
                <a:latin typeface="Verdana"/>
                <a:cs typeface="Verdana"/>
              </a:rPr>
              <a:t>a </a:t>
            </a:r>
            <a:r>
              <a:rPr sz="2850" dirty="0">
                <a:latin typeface="Verdana"/>
                <a:cs typeface="Verdana"/>
              </a:rPr>
              <a:t>mitigar</a:t>
            </a:r>
            <a:r>
              <a:rPr sz="2850" spc="-114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la</a:t>
            </a:r>
            <a:r>
              <a:rPr sz="2850" spc="-11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desigualdad</a:t>
            </a:r>
            <a:r>
              <a:rPr sz="2850" spc="-11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educativa</a:t>
            </a:r>
            <a:r>
              <a:rPr sz="2850" spc="-110" dirty="0">
                <a:latin typeface="Verdana"/>
                <a:cs typeface="Verdana"/>
              </a:rPr>
              <a:t> </a:t>
            </a:r>
            <a:r>
              <a:rPr sz="2850" dirty="0">
                <a:latin typeface="Verdana"/>
                <a:cs typeface="Verdana"/>
              </a:rPr>
              <a:t>en</a:t>
            </a:r>
            <a:r>
              <a:rPr sz="2850" spc="-110" dirty="0">
                <a:latin typeface="Verdana"/>
                <a:cs typeface="Verdana"/>
              </a:rPr>
              <a:t> </a:t>
            </a:r>
            <a:r>
              <a:rPr sz="2850" spc="-40" dirty="0">
                <a:latin typeface="Verdana"/>
                <a:cs typeface="Verdana"/>
              </a:rPr>
              <a:t>sectores</a:t>
            </a:r>
            <a:r>
              <a:rPr sz="2850" spc="-110" dirty="0">
                <a:latin typeface="Verdana"/>
                <a:cs typeface="Verdana"/>
              </a:rPr>
              <a:t> </a:t>
            </a:r>
            <a:r>
              <a:rPr sz="2850" spc="-10" dirty="0">
                <a:latin typeface="Verdana"/>
                <a:cs typeface="Verdana"/>
              </a:rPr>
              <a:t>vulnerables.</a:t>
            </a:r>
            <a:endParaRPr sz="2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5. </a:t>
            </a:r>
            <a:r>
              <a:rPr spc="-300" dirty="0"/>
              <a:t>Estadística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4931" y="1819547"/>
            <a:ext cx="4177029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40" dirty="0">
                <a:latin typeface="Verdana"/>
                <a:cs typeface="Verdana"/>
              </a:rPr>
              <a:t>Gráficos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-110" dirty="0">
                <a:latin typeface="Verdana"/>
                <a:cs typeface="Verdana"/>
              </a:rPr>
              <a:t>relevantes: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3209985"/>
            <a:ext cx="7714362" cy="47692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442" y="3209985"/>
            <a:ext cx="7644830" cy="47688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690" y="1316111"/>
            <a:ext cx="8627745" cy="68529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85090" indent="-82550">
              <a:lnSpc>
                <a:spcPct val="100000"/>
              </a:lnSpc>
              <a:spcBef>
                <a:spcPts val="520"/>
              </a:spcBef>
              <a:buSzPct val="50000"/>
              <a:buFont typeface="Verdana"/>
              <a:buChar char="•"/>
              <a:tabLst>
                <a:tab pos="85090" algn="l"/>
              </a:tabLst>
            </a:pPr>
            <a:r>
              <a:rPr sz="2000" dirty="0">
                <a:latin typeface="Verdana"/>
                <a:cs typeface="Verdana"/>
              </a:rPr>
              <a:t>Capa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presentación:</a:t>
            </a:r>
            <a:endParaRPr sz="2000">
              <a:latin typeface="Verdana"/>
              <a:cs typeface="Verdana"/>
            </a:endParaRPr>
          </a:p>
          <a:p>
            <a:pPr marL="12700" marR="169545">
              <a:lnSpc>
                <a:spcPct val="117900"/>
              </a:lnSpc>
            </a:pPr>
            <a:r>
              <a:rPr sz="2000" dirty="0">
                <a:latin typeface="Verdana"/>
                <a:cs typeface="Verdana"/>
              </a:rPr>
              <a:t>Esta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capa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funciona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manera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visual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receptiva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dentro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35" dirty="0">
                <a:latin typeface="Verdana"/>
                <a:cs typeface="Verdana"/>
              </a:rPr>
              <a:t>del </a:t>
            </a:r>
            <a:r>
              <a:rPr sz="2000" spc="-35" dirty="0">
                <a:latin typeface="Verdana"/>
                <a:cs typeface="Verdana"/>
              </a:rPr>
              <a:t>sistema,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asegurando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que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las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pantallas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interfaz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usuario </a:t>
            </a:r>
            <a:r>
              <a:rPr sz="2000" dirty="0">
                <a:latin typeface="Verdana"/>
                <a:cs typeface="Verdana"/>
              </a:rPr>
              <a:t>sean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lógicamente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independientes,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limitándose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exclusivamente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renderizar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contenido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gráfico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recibido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las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inferiores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y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capturar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eventos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y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clics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del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alumno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000">
              <a:latin typeface="Verdana"/>
              <a:cs typeface="Verdana"/>
            </a:endParaRPr>
          </a:p>
          <a:p>
            <a:pPr marL="85090" indent="-82550">
              <a:lnSpc>
                <a:spcPct val="100000"/>
              </a:lnSpc>
              <a:spcBef>
                <a:spcPts val="5"/>
              </a:spcBef>
              <a:buSzPct val="50000"/>
              <a:buChar char="•"/>
              <a:tabLst>
                <a:tab pos="85090" algn="l"/>
              </a:tabLst>
            </a:pPr>
            <a:r>
              <a:rPr sz="2000" dirty="0">
                <a:latin typeface="Verdana"/>
                <a:cs typeface="Verdana"/>
              </a:rPr>
              <a:t>Capa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lógica:</a:t>
            </a:r>
            <a:endParaRPr sz="2000">
              <a:latin typeface="Verdana"/>
              <a:cs typeface="Verdana"/>
            </a:endParaRPr>
          </a:p>
          <a:p>
            <a:pPr marL="12700" marR="876300">
              <a:lnSpc>
                <a:spcPct val="117900"/>
              </a:lnSpc>
            </a:pPr>
            <a:r>
              <a:rPr sz="2000" dirty="0">
                <a:latin typeface="Verdana"/>
                <a:cs typeface="Verdana"/>
              </a:rPr>
              <a:t>Constituye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núcleo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operativo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"cerebro"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PlayKids, </a:t>
            </a:r>
            <a:r>
              <a:rPr sz="2000" spc="45" dirty="0">
                <a:latin typeface="Verdana"/>
                <a:cs typeface="Verdana"/>
              </a:rPr>
              <a:t>encapsulando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todas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las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reglas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del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juego,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las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evaluaciones </a:t>
            </a:r>
            <a:r>
              <a:rPr sz="2000" dirty="0">
                <a:latin typeface="Verdana"/>
                <a:cs typeface="Verdana"/>
              </a:rPr>
              <a:t>automáticas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bancos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palabras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forma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aislada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interfaz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gráfica.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000">
              <a:latin typeface="Verdana"/>
              <a:cs typeface="Verdana"/>
            </a:endParaRPr>
          </a:p>
          <a:p>
            <a:pPr marL="85090" indent="-82550">
              <a:lnSpc>
                <a:spcPct val="100000"/>
              </a:lnSpc>
              <a:buSzPct val="50000"/>
              <a:buChar char="•"/>
              <a:tabLst>
                <a:tab pos="85090" algn="l"/>
              </a:tabLst>
            </a:pPr>
            <a:r>
              <a:rPr sz="2000" dirty="0">
                <a:latin typeface="Verdana"/>
                <a:cs typeface="Verdana"/>
              </a:rPr>
              <a:t>Capa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datos: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17900"/>
              </a:lnSpc>
            </a:pPr>
            <a:r>
              <a:rPr sz="2000" dirty="0">
                <a:latin typeface="Verdana"/>
                <a:cs typeface="Verdana"/>
              </a:rPr>
              <a:t>Representa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componente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persistencia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permanente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35" dirty="0">
                <a:latin typeface="Verdana"/>
                <a:cs typeface="Verdana"/>
              </a:rPr>
              <a:t>del </a:t>
            </a:r>
            <a:r>
              <a:rPr sz="2000" spc="-20" dirty="0">
                <a:latin typeface="Verdana"/>
                <a:cs typeface="Verdana"/>
              </a:rPr>
              <a:t>software,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diseñado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específicamente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aislar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40" dirty="0">
                <a:latin typeface="Verdana"/>
                <a:cs typeface="Verdana"/>
              </a:rPr>
              <a:t>almacenamiento </a:t>
            </a:r>
            <a:r>
              <a:rPr sz="2000" dirty="0">
                <a:latin typeface="Verdana"/>
                <a:cs typeface="Verdana"/>
              </a:rPr>
              <a:t>físico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del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sistema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y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asegurar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inmutabilidad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las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estadísticas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y </a:t>
            </a:r>
            <a:r>
              <a:rPr sz="2000" dirty="0">
                <a:latin typeface="Verdana"/>
                <a:cs typeface="Verdana"/>
              </a:rPr>
              <a:t>los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progresos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del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alumno,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incluso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tras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cierre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70" dirty="0">
                <a:latin typeface="Verdana"/>
                <a:cs typeface="Verdana"/>
              </a:rPr>
              <a:t>completo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65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la </a:t>
            </a:r>
            <a:r>
              <a:rPr sz="2000" spc="-10" dirty="0">
                <a:latin typeface="Verdana"/>
                <a:cs typeface="Verdana"/>
              </a:rPr>
              <a:t>aplicación.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9595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6.</a:t>
            </a:r>
            <a:r>
              <a:rPr spc="-280" dirty="0"/>
              <a:t> </a:t>
            </a:r>
            <a:r>
              <a:rPr spc="-150" dirty="0"/>
              <a:t>Arquitectura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7130" y="667369"/>
            <a:ext cx="7892168" cy="77937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7" y="0"/>
            <a:ext cx="18288000" cy="10286999"/>
          </a:xfrm>
          <a:prstGeom prst="rect">
            <a:avLst/>
          </a:prstGeom>
        </p:spPr>
      </p:pic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F8520714-49EA-4FBD-7EC9-303D44ED09E8}"/>
              </a:ext>
            </a:extLst>
          </p:cNvPr>
          <p:cNvSpPr txBox="1">
            <a:spLocks/>
          </p:cNvSpPr>
          <p:nvPr/>
        </p:nvSpPr>
        <p:spPr>
          <a:xfrm>
            <a:off x="1034008" y="353203"/>
            <a:ext cx="16219983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569595">
              <a:spcBef>
                <a:spcPts val="95"/>
              </a:spcBef>
            </a:pPr>
            <a:r>
              <a:rPr lang="es-ES" sz="3800" spc="-290" dirty="0">
                <a:latin typeface="Arial Black" panose="020B0A04020102020204" pitchFamily="34" charset="0"/>
              </a:rPr>
              <a:t>7.</a:t>
            </a:r>
            <a:r>
              <a:rPr lang="es-ES" sz="3800" spc="-280" dirty="0">
                <a:latin typeface="Arial Black" panose="020B0A04020102020204" pitchFamily="34" charset="0"/>
              </a:rPr>
              <a:t> </a:t>
            </a:r>
            <a:r>
              <a:rPr lang="es-ES" sz="3800" spc="-150" dirty="0">
                <a:latin typeface="Arial Black" panose="020B0A04020102020204" pitchFamily="34" charset="0"/>
              </a:rPr>
              <a:t>POO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989C42-6A2A-AF66-699A-0F09F57A4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8" y="2247958"/>
            <a:ext cx="4452392" cy="47243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1F4D3C-1112-A6AE-F6C9-CBC1771EA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339" y="2248865"/>
            <a:ext cx="4838601" cy="49529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6F1CFDC-726B-E432-62CF-E7F0DCE35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880" y="2249772"/>
            <a:ext cx="5467768" cy="495112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9232535-2616-CA45-1D00-27D7B629E6F0}"/>
              </a:ext>
            </a:extLst>
          </p:cNvPr>
          <p:cNvSpPr txBox="1"/>
          <p:nvPr/>
        </p:nvSpPr>
        <p:spPr>
          <a:xfrm>
            <a:off x="2209800" y="1866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CC5DDBA-1A75-C1BC-E3F2-A0816605C35B}"/>
              </a:ext>
            </a:extLst>
          </p:cNvPr>
          <p:cNvSpPr txBox="1"/>
          <p:nvPr/>
        </p:nvSpPr>
        <p:spPr>
          <a:xfrm>
            <a:off x="6181368" y="1820733"/>
            <a:ext cx="1827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err="1"/>
              <a:t>Actividad.cs</a:t>
            </a:r>
            <a:endParaRPr lang="es-ES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0390C1-D82E-CAC1-0654-D77056068696}"/>
              </a:ext>
            </a:extLst>
          </p:cNvPr>
          <p:cNvSpPr txBox="1"/>
          <p:nvPr/>
        </p:nvSpPr>
        <p:spPr>
          <a:xfrm>
            <a:off x="979581" y="1832429"/>
            <a:ext cx="164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err="1"/>
              <a:t>Usuario.cs</a:t>
            </a:r>
            <a:endParaRPr lang="es-ES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335B2D-B70C-CB54-44E4-68F47883C38E}"/>
              </a:ext>
            </a:extLst>
          </p:cNvPr>
          <p:cNvSpPr txBox="1"/>
          <p:nvPr/>
        </p:nvSpPr>
        <p:spPr>
          <a:xfrm>
            <a:off x="11592477" y="1774567"/>
            <a:ext cx="3028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err="1"/>
              <a:t>seleccionMultiple.cs</a:t>
            </a:r>
            <a:endParaRPr lang="es-E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95"/>
              </a:spcBef>
            </a:pPr>
            <a:r>
              <a:rPr lang="es-ES" spc="-290" dirty="0"/>
              <a:t>8</a:t>
            </a:r>
            <a:r>
              <a:rPr spc="-290" dirty="0"/>
              <a:t>.</a:t>
            </a:r>
            <a:r>
              <a:rPr spc="-280" dirty="0"/>
              <a:t> </a:t>
            </a:r>
            <a:r>
              <a:rPr spc="-265" dirty="0"/>
              <a:t>Conclusiones</a:t>
            </a:r>
            <a:r>
              <a:rPr spc="-275" dirty="0"/>
              <a:t> </a:t>
            </a:r>
            <a:r>
              <a:rPr spc="-195" dirty="0"/>
              <a:t>y</a:t>
            </a:r>
            <a:r>
              <a:rPr spc="-275" dirty="0"/>
              <a:t> </a:t>
            </a:r>
            <a:r>
              <a:rPr spc="-215" dirty="0"/>
              <a:t>recomendaciones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190311"/>
            <a:ext cx="13705205" cy="799147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114425">
              <a:lnSpc>
                <a:spcPct val="100000"/>
              </a:lnSpc>
              <a:spcBef>
                <a:spcPts val="1390"/>
              </a:spcBef>
            </a:pPr>
            <a:r>
              <a:rPr sz="3400" spc="-10" dirty="0">
                <a:latin typeface="Verdana"/>
                <a:cs typeface="Verdana"/>
              </a:rPr>
              <a:t>Conclusiones: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5799"/>
              </a:lnSpc>
              <a:spcBef>
                <a:spcPts val="650"/>
              </a:spcBef>
            </a:pPr>
            <a:r>
              <a:rPr sz="3400" spc="55" dirty="0">
                <a:latin typeface="Verdana"/>
                <a:cs typeface="Verdana"/>
              </a:rPr>
              <a:t>El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desarrollo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65" dirty="0">
                <a:latin typeface="Verdana"/>
                <a:cs typeface="Verdana"/>
              </a:rPr>
              <a:t>del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sistema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45" dirty="0">
                <a:latin typeface="Verdana"/>
                <a:cs typeface="Verdana"/>
              </a:rPr>
              <a:t>permitió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evidenciar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la</a:t>
            </a:r>
            <a:r>
              <a:rPr sz="3400" spc="-260" dirty="0">
                <a:latin typeface="Verdana"/>
                <a:cs typeface="Verdana"/>
              </a:rPr>
              <a:t> </a:t>
            </a:r>
            <a:r>
              <a:rPr sz="3400" spc="45" dirty="0">
                <a:latin typeface="Verdana"/>
                <a:cs typeface="Verdana"/>
              </a:rPr>
              <a:t>importancia</a:t>
            </a:r>
            <a:r>
              <a:rPr sz="3400" spc="-265" dirty="0">
                <a:latin typeface="Verdana"/>
                <a:cs typeface="Verdana"/>
              </a:rPr>
              <a:t> </a:t>
            </a:r>
            <a:r>
              <a:rPr sz="3400" spc="35" dirty="0">
                <a:latin typeface="Verdana"/>
                <a:cs typeface="Verdana"/>
              </a:rPr>
              <a:t>de </a:t>
            </a:r>
            <a:r>
              <a:rPr sz="3400" spc="-30" dirty="0">
                <a:latin typeface="Verdana"/>
                <a:cs typeface="Verdana"/>
              </a:rPr>
              <a:t>integrar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herramientas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tecnológicas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en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el</a:t>
            </a:r>
            <a:r>
              <a:rPr sz="3400" spc="-1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proceso</a:t>
            </a:r>
            <a:r>
              <a:rPr sz="3400" spc="-18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educativo, </a:t>
            </a:r>
            <a:r>
              <a:rPr sz="3400" dirty="0">
                <a:latin typeface="Verdana"/>
                <a:cs typeface="Verdana"/>
              </a:rPr>
              <a:t>especialmente</a:t>
            </a:r>
            <a:r>
              <a:rPr sz="3400" spc="-22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en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el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aprendizaje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idiomas.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spc="-80" dirty="0">
                <a:latin typeface="Verdana"/>
                <a:cs typeface="Verdana"/>
              </a:rPr>
              <a:t>La</a:t>
            </a:r>
            <a:r>
              <a:rPr sz="3400" spc="-21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propuesta </a:t>
            </a:r>
            <a:r>
              <a:rPr sz="3400" dirty="0">
                <a:latin typeface="Verdana"/>
                <a:cs typeface="Verdana"/>
              </a:rPr>
              <a:t>basada</a:t>
            </a:r>
            <a:r>
              <a:rPr sz="3400" spc="-24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en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45" dirty="0">
                <a:latin typeface="Verdana"/>
                <a:cs typeface="Verdana"/>
              </a:rPr>
              <a:t>gamificación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229" dirty="0">
                <a:latin typeface="Verdana"/>
                <a:cs typeface="Verdana"/>
              </a:rPr>
              <a:t>y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actividades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interactivas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demuestra </a:t>
            </a:r>
            <a:r>
              <a:rPr sz="3400" spc="-114" dirty="0">
                <a:latin typeface="Verdana"/>
                <a:cs typeface="Verdana"/>
              </a:rPr>
              <a:t>ser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una</a:t>
            </a:r>
            <a:r>
              <a:rPr sz="3400" spc="-250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alternativa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efectiva</a:t>
            </a:r>
            <a:r>
              <a:rPr sz="3400" spc="-250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para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50" dirty="0">
                <a:latin typeface="Verdana"/>
                <a:cs typeface="Verdana"/>
              </a:rPr>
              <a:t>mejorar</a:t>
            </a:r>
            <a:r>
              <a:rPr sz="3400" spc="-25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la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motivación, </a:t>
            </a:r>
            <a:r>
              <a:rPr sz="3400" spc="45" dirty="0">
                <a:latin typeface="Verdana"/>
                <a:cs typeface="Verdana"/>
              </a:rPr>
              <a:t>participación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229" dirty="0">
                <a:latin typeface="Verdana"/>
                <a:cs typeface="Verdana"/>
              </a:rPr>
              <a:t>y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45" dirty="0">
                <a:latin typeface="Verdana"/>
                <a:cs typeface="Verdana"/>
              </a:rPr>
              <a:t>comprensión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los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60" dirty="0">
                <a:latin typeface="Verdana"/>
                <a:cs typeface="Verdana"/>
              </a:rPr>
              <a:t>estudiantes.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Además,</a:t>
            </a:r>
            <a:r>
              <a:rPr sz="3400" spc="-254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la </a:t>
            </a:r>
            <a:r>
              <a:rPr sz="3400" spc="65" dirty="0">
                <a:latin typeface="Verdana"/>
                <a:cs typeface="Verdana"/>
              </a:rPr>
              <a:t>implementación</a:t>
            </a:r>
            <a:r>
              <a:rPr sz="3400" spc="-14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14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funcionalidades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spc="120" dirty="0">
                <a:latin typeface="Verdana"/>
                <a:cs typeface="Verdana"/>
              </a:rPr>
              <a:t>como</a:t>
            </a:r>
            <a:r>
              <a:rPr sz="3400" spc="-14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el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seguimiento</a:t>
            </a:r>
            <a:r>
              <a:rPr sz="3400" spc="-145" dirty="0">
                <a:latin typeface="Verdana"/>
                <a:cs typeface="Verdana"/>
              </a:rPr>
              <a:t> </a:t>
            </a:r>
            <a:r>
              <a:rPr sz="3400" spc="40" dirty="0">
                <a:latin typeface="Verdana"/>
                <a:cs typeface="Verdana"/>
              </a:rPr>
              <a:t>del </a:t>
            </a:r>
            <a:r>
              <a:rPr sz="3400" spc="-20" dirty="0">
                <a:latin typeface="Verdana"/>
                <a:cs typeface="Verdana"/>
              </a:rPr>
              <a:t>progreso</a:t>
            </a:r>
            <a:r>
              <a:rPr sz="3400" spc="-229" dirty="0">
                <a:latin typeface="Verdana"/>
                <a:cs typeface="Verdana"/>
              </a:rPr>
              <a:t> y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la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generación</a:t>
            </a:r>
            <a:r>
              <a:rPr sz="3400" spc="-229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reportes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contribuye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a</a:t>
            </a:r>
            <a:r>
              <a:rPr sz="3400" spc="-229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una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mejor </a:t>
            </a:r>
            <a:r>
              <a:rPr sz="3400" spc="60" dirty="0">
                <a:latin typeface="Verdana"/>
                <a:cs typeface="Verdana"/>
              </a:rPr>
              <a:t>toma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de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decisiones</a:t>
            </a:r>
            <a:r>
              <a:rPr sz="3400" spc="-22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tanto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para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docentes</a:t>
            </a:r>
            <a:r>
              <a:rPr sz="3400" spc="-220" dirty="0">
                <a:latin typeface="Verdana"/>
                <a:cs typeface="Verdana"/>
              </a:rPr>
              <a:t> </a:t>
            </a:r>
            <a:r>
              <a:rPr sz="3400" spc="120" dirty="0">
                <a:latin typeface="Verdana"/>
                <a:cs typeface="Verdana"/>
              </a:rPr>
              <a:t>como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para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85" dirty="0">
                <a:latin typeface="Verdana"/>
                <a:cs typeface="Verdana"/>
              </a:rPr>
              <a:t>padres.</a:t>
            </a:r>
            <a:r>
              <a:rPr sz="3400" spc="-220" dirty="0">
                <a:latin typeface="Verdana"/>
                <a:cs typeface="Verdana"/>
              </a:rPr>
              <a:t> </a:t>
            </a:r>
            <a:r>
              <a:rPr sz="3400" spc="45" dirty="0">
                <a:latin typeface="Verdana"/>
                <a:cs typeface="Verdana"/>
              </a:rPr>
              <a:t>En </a:t>
            </a:r>
            <a:r>
              <a:rPr sz="3400" spc="-85" dirty="0">
                <a:latin typeface="Verdana"/>
                <a:cs typeface="Verdana"/>
              </a:rPr>
              <a:t>general,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el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sistema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responde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adecuadamente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a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la</a:t>
            </a:r>
            <a:r>
              <a:rPr sz="3400" spc="-165" dirty="0">
                <a:latin typeface="Verdana"/>
                <a:cs typeface="Verdana"/>
              </a:rPr>
              <a:t> </a:t>
            </a:r>
            <a:r>
              <a:rPr sz="3400" spc="35" dirty="0">
                <a:latin typeface="Verdana"/>
                <a:cs typeface="Verdana"/>
              </a:rPr>
              <a:t>problemática </a:t>
            </a:r>
            <a:r>
              <a:rPr sz="3400" spc="-10" dirty="0">
                <a:latin typeface="Verdana"/>
                <a:cs typeface="Verdana"/>
              </a:rPr>
              <a:t>identificada,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ofreciendo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una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solución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accesible,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spc="65" dirty="0">
                <a:latin typeface="Verdana"/>
                <a:cs typeface="Verdana"/>
              </a:rPr>
              <a:t>dinámica</a:t>
            </a:r>
            <a:r>
              <a:rPr sz="3400" spc="-140" dirty="0">
                <a:latin typeface="Verdana"/>
                <a:cs typeface="Verdana"/>
              </a:rPr>
              <a:t> </a:t>
            </a:r>
            <a:r>
              <a:rPr sz="3400" spc="-50" dirty="0">
                <a:latin typeface="Verdana"/>
                <a:cs typeface="Verdana"/>
              </a:rPr>
              <a:t>y </a:t>
            </a:r>
            <a:r>
              <a:rPr sz="3400" dirty="0">
                <a:latin typeface="Verdana"/>
                <a:cs typeface="Verdana"/>
              </a:rPr>
              <a:t>alineada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90" dirty="0">
                <a:latin typeface="Verdana"/>
                <a:cs typeface="Verdana"/>
              </a:rPr>
              <a:t>con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-65" dirty="0">
                <a:latin typeface="Verdana"/>
                <a:cs typeface="Verdana"/>
              </a:rPr>
              <a:t>las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necesidades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actuales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65" dirty="0">
                <a:latin typeface="Verdana"/>
                <a:cs typeface="Verdana"/>
              </a:rPr>
              <a:t>del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entorno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educativo.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7.</a:t>
            </a:r>
            <a:r>
              <a:rPr spc="-280" dirty="0"/>
              <a:t> </a:t>
            </a:r>
            <a:r>
              <a:rPr spc="-265" dirty="0"/>
              <a:t>Conclusiones</a:t>
            </a:r>
            <a:r>
              <a:rPr spc="-275" dirty="0"/>
              <a:t> </a:t>
            </a:r>
            <a:r>
              <a:rPr spc="-195" dirty="0"/>
              <a:t>y</a:t>
            </a:r>
            <a:r>
              <a:rPr spc="-275" dirty="0"/>
              <a:t> </a:t>
            </a:r>
            <a:r>
              <a:rPr spc="-215" dirty="0"/>
              <a:t>recomendaciones.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381515"/>
            <a:ext cx="13559155" cy="743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152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latin typeface="Verdana"/>
                <a:cs typeface="Verdana"/>
              </a:rPr>
              <a:t>Recomendaciones:</a:t>
            </a:r>
            <a:endParaRPr sz="3400">
              <a:latin typeface="Verdana"/>
              <a:cs typeface="Verdana"/>
            </a:endParaRPr>
          </a:p>
          <a:p>
            <a:pPr marL="12700" marR="5080">
              <a:lnSpc>
                <a:spcPct val="117000"/>
              </a:lnSpc>
              <a:spcBef>
                <a:spcPts val="3185"/>
              </a:spcBef>
            </a:pPr>
            <a:r>
              <a:rPr sz="2600" dirty="0">
                <a:latin typeface="Verdana"/>
                <a:cs typeface="Verdana"/>
              </a:rPr>
              <a:t>Cifrado</a:t>
            </a:r>
            <a:r>
              <a:rPr sz="2600" spc="-160" dirty="0">
                <a:latin typeface="Verdana"/>
                <a:cs typeface="Verdana"/>
              </a:rPr>
              <a:t> y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validación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estricta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spc="95" dirty="0">
                <a:latin typeface="Verdana"/>
                <a:cs typeface="Verdana"/>
              </a:rPr>
              <a:t>módulo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seguridad: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Se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recomienda</a:t>
            </a:r>
            <a:r>
              <a:rPr sz="2600" spc="-15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priorizar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40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implementación</a:t>
            </a:r>
            <a:r>
              <a:rPr sz="2600" spc="-14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del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requerimiento</a:t>
            </a:r>
            <a:r>
              <a:rPr sz="2600" spc="-14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no</a:t>
            </a:r>
            <a:r>
              <a:rPr sz="2600" spc="-14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funcional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4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seguridad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spc="-75" dirty="0">
                <a:latin typeface="Verdana"/>
                <a:cs typeface="Verdana"/>
              </a:rPr>
              <a:t>(RNF03)</a:t>
            </a:r>
            <a:r>
              <a:rPr sz="2600" spc="-14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durante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50" dirty="0">
                <a:latin typeface="Verdana"/>
                <a:cs typeface="Verdana"/>
              </a:rPr>
              <a:t>inicio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fase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desarrollo.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Esto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implica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asegurar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que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las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contraseñas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se </a:t>
            </a:r>
            <a:r>
              <a:rPr sz="2600" spc="45" dirty="0">
                <a:latin typeface="Verdana"/>
                <a:cs typeface="Verdana"/>
              </a:rPr>
              <a:t>almacenen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50" dirty="0">
                <a:latin typeface="Verdana"/>
                <a:cs typeface="Verdana"/>
              </a:rPr>
              <a:t>mediante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algoritmos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cifrado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base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datos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160" dirty="0">
                <a:latin typeface="Verdana"/>
                <a:cs typeface="Verdana"/>
              </a:rPr>
              <a:t>y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añadir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35" dirty="0">
                <a:latin typeface="Verdana"/>
                <a:cs typeface="Verdana"/>
              </a:rPr>
              <a:t>un </a:t>
            </a:r>
            <a:r>
              <a:rPr sz="2600" spc="50" dirty="0">
                <a:latin typeface="Verdana"/>
                <a:cs typeface="Verdana"/>
              </a:rPr>
              <a:t>mecanismo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validación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que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spc="85" dirty="0">
                <a:latin typeface="Verdana"/>
                <a:cs typeface="Verdana"/>
              </a:rPr>
              <a:t>impida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spc="80" dirty="0">
                <a:latin typeface="Verdana"/>
                <a:cs typeface="Verdana"/>
              </a:rPr>
              <a:t>duplicidad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correos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electrónicos, </a:t>
            </a:r>
            <a:r>
              <a:rPr sz="2600" dirty="0">
                <a:latin typeface="Verdana"/>
                <a:cs typeface="Verdana"/>
              </a:rPr>
              <a:t>protegiendo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así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progreso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65" dirty="0">
                <a:latin typeface="Verdana"/>
                <a:cs typeface="Verdana"/>
              </a:rPr>
              <a:t>acumulado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los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niños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ante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posibles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pérdidas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de </a:t>
            </a:r>
            <a:r>
              <a:rPr sz="2600" spc="-10" dirty="0">
                <a:latin typeface="Verdana"/>
                <a:cs typeface="Verdana"/>
              </a:rPr>
              <a:t>cuenta.</a:t>
            </a: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600">
              <a:latin typeface="Verdana"/>
              <a:cs typeface="Verdana"/>
            </a:endParaRPr>
          </a:p>
          <a:p>
            <a:pPr marL="12700" marR="113030">
              <a:lnSpc>
                <a:spcPct val="117000"/>
              </a:lnSpc>
            </a:pPr>
            <a:r>
              <a:rPr sz="2600" dirty="0">
                <a:latin typeface="Verdana"/>
                <a:cs typeface="Verdana"/>
              </a:rPr>
              <a:t>Construcción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un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diccionario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datos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160" dirty="0">
                <a:latin typeface="Verdana"/>
                <a:cs typeface="Verdana"/>
              </a:rPr>
              <a:t>y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escalabilidad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del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catálogo: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Para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evitar </a:t>
            </a:r>
            <a:r>
              <a:rPr sz="2600" dirty="0">
                <a:latin typeface="Verdana"/>
                <a:cs typeface="Verdana"/>
              </a:rPr>
              <a:t>inconsistencias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durante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fase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codificación,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se</a:t>
            </a:r>
            <a:r>
              <a:rPr sz="2600" spc="-110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sugiere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elaborar</a:t>
            </a:r>
            <a:r>
              <a:rPr sz="2600" spc="-114" dirty="0">
                <a:latin typeface="Verdana"/>
                <a:cs typeface="Verdana"/>
              </a:rPr>
              <a:t> </a:t>
            </a:r>
            <a:r>
              <a:rPr sz="2600" spc="35" dirty="0">
                <a:latin typeface="Verdana"/>
                <a:cs typeface="Verdana"/>
              </a:rPr>
              <a:t>un </a:t>
            </a:r>
            <a:r>
              <a:rPr sz="2600" spc="80" dirty="0">
                <a:latin typeface="Verdana"/>
                <a:cs typeface="Verdana"/>
              </a:rPr>
              <a:t>documento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55" dirty="0">
                <a:latin typeface="Verdana"/>
                <a:cs typeface="Verdana"/>
              </a:rPr>
              <a:t>técnico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exhaustivo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que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funcione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105" dirty="0">
                <a:latin typeface="Verdana"/>
                <a:cs typeface="Verdana"/>
              </a:rPr>
              <a:t>como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45" dirty="0">
                <a:latin typeface="Verdana"/>
                <a:cs typeface="Verdana"/>
              </a:rPr>
              <a:t>diccionario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datos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y </a:t>
            </a:r>
            <a:r>
              <a:rPr sz="2600" spc="70" dirty="0">
                <a:latin typeface="Verdana"/>
                <a:cs typeface="Verdana"/>
              </a:rPr>
              <a:t>complemente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diseño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físico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actual.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Esto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prevendrá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inserción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datos </a:t>
            </a:r>
            <a:r>
              <a:rPr sz="2600" dirty="0">
                <a:latin typeface="Verdana"/>
                <a:cs typeface="Verdana"/>
              </a:rPr>
              <a:t>redundantes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spc="-160" dirty="0">
                <a:latin typeface="Verdana"/>
                <a:cs typeface="Verdana"/>
              </a:rPr>
              <a:t>y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preparará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la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base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de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datos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para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expandir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alcance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spc="60" dirty="0">
                <a:latin typeface="Verdana"/>
                <a:cs typeface="Verdana"/>
              </a:rPr>
              <a:t>del</a:t>
            </a:r>
            <a:r>
              <a:rPr sz="2600" spc="-13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proyecto </a:t>
            </a:r>
            <a:r>
              <a:rPr sz="2600" dirty="0">
                <a:latin typeface="Verdana"/>
                <a:cs typeface="Verdana"/>
              </a:rPr>
              <a:t>(añadiendo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nuevos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idiomas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-160" dirty="0">
                <a:latin typeface="Verdana"/>
                <a:cs typeface="Verdana"/>
              </a:rPr>
              <a:t>y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juegos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interactivos)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sin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alterar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el</a:t>
            </a:r>
            <a:r>
              <a:rPr sz="2600" spc="-150" dirty="0">
                <a:latin typeface="Verdana"/>
                <a:cs typeface="Verdana"/>
              </a:rPr>
              <a:t> </a:t>
            </a:r>
            <a:r>
              <a:rPr sz="2600" spc="80" dirty="0">
                <a:latin typeface="Verdana"/>
                <a:cs typeface="Verdana"/>
              </a:rPr>
              <a:t>modelo</a:t>
            </a:r>
            <a:r>
              <a:rPr sz="2600" spc="-14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relacional.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1760</Words>
  <Application>Microsoft Office PowerPoint</Application>
  <PresentationFormat>Personalizado</PresentationFormat>
  <Paragraphs>95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MS Mincho</vt:lpstr>
      <vt:lpstr>Arial Black</vt:lpstr>
      <vt:lpstr>Cambria</vt:lpstr>
      <vt:lpstr>Tahoma</vt:lpstr>
      <vt:lpstr>Verdana</vt:lpstr>
      <vt:lpstr>Office Theme</vt:lpstr>
      <vt:lpstr>Nombre del Producto:PlayKids</vt:lpstr>
      <vt:lpstr>1.Problema y Objetivos</vt:lpstr>
      <vt:lpstr>1.Problema y Objetivos</vt:lpstr>
      <vt:lpstr>1.Problema y Objetivos.</vt:lpstr>
      <vt:lpstr>2.Proceso Automatizado.</vt:lpstr>
      <vt:lpstr>2.Proceso Automatizado Modelación de Procesos</vt:lpstr>
      <vt:lpstr>2. Proceso Automatizado</vt:lpstr>
      <vt:lpstr>3. Ingeniería de Software</vt:lpstr>
      <vt:lpstr>3. Ingeniería de Software</vt:lpstr>
      <vt:lpstr>4. Base de datos</vt:lpstr>
      <vt:lpstr>4.Base de datos</vt:lpstr>
      <vt:lpstr>5. Estadística</vt:lpstr>
      <vt:lpstr>5. Estadística</vt:lpstr>
      <vt:lpstr>6. Arquitectura</vt:lpstr>
      <vt:lpstr>Presentación de PowerPoint</vt:lpstr>
      <vt:lpstr>8. Conclusiones y recomendaciones</vt:lpstr>
      <vt:lpstr>7. Conclusiones y recomendaciones.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PlayKids. Grupo #2.pptx</dc:title>
  <dc:creator>Kelly Martinez Rocha</dc:creator>
  <cp:keywords>DAHNDdO-zdE,BAGUbi0I-XQ,0</cp:keywords>
  <cp:lastModifiedBy>JAVIER SALINAS</cp:lastModifiedBy>
  <cp:revision>4</cp:revision>
  <dcterms:created xsi:type="dcterms:W3CDTF">2026-06-20T02:24:46Z</dcterms:created>
  <dcterms:modified xsi:type="dcterms:W3CDTF">2026-06-20T16:18:00Z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2026-06-20T00:00:00Z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2026-06-20T00:00:00Z</vt:filetime>
  </property>
  <property fmtid="{D5CDD505-2E9C-101B-9397-08002B2CF9AE}" pid="6" name="Producer">
    <vt:lpwstr>Canva</vt:lpwstr>
  </property>
</Properties>
</file>